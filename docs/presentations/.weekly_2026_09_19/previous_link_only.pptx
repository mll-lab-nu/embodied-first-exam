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本演示文稿转换自已完成的周报，不更新正在运行的工程或求解结果。三部分与 Markdown 周报一致。</a:t>
            </a:r>
          </a:p>
          <a:p/>
          <a:p>
            <a:r>
              <a:t>来源（相对仓库根目录）：</a:t>
            </a:r>
          </a:p>
          <a:p>
            <a:r>
              <a:t>reports/weekly/2026-09-19/weekly-report.md</a:t>
            </a:r>
          </a:p>
          <a:p>
            <a:r>
              <a:t>reports/weekly/2026-09-19/sources.json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绿色不取消预抓取、辅助抓持或末态仍持稳等协议边界。Fiber 严格线形收敛和 Knot 完整物理资格尚未通过。</a:t>
            </a:r>
          </a:p>
          <a:p/>
          <a:p>
            <a:r>
              <a:t>来源（相对仓库根目录）：</a:t>
            </a:r>
          </a:p>
          <a:p>
            <a:r>
              <a:t>reports/weekly/2026-09-19/report.json</a:t>
            </a:r>
          </a:p>
          <a:p>
            <a:r>
              <a:t>reports/weekly/2026-09-19/weekly-report.md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固定三家族 + 条件微调已接入 seed；随机动力学验收尚未闭环。</a:t>
            </a:r>
          </a:p>
          <a:p>
            <a:r>
              <a:t>384 个不同配置可复现</a:t>
            </a:r>
          </a:p>
          <a:p>
            <a:r>
              <a:t>48/48 几何；12/12 双臂规划</a:t>
            </a:r>
          </a:p>
          <a:p>
            <a:r>
              <a:t>六次代表执行均完成装配释放，严格归档仅 4/6 通过。</a:t>
            </a:r>
          </a:p>
          <a:p>
            <a:r>
              <a:t>保留 A/C 的微米级接触失败；对随机实例增加物理验收。</a:t>
            </a:r>
          </a:p>
          <a:p/>
          <a:p>
            <a:r>
              <a:t>基础装配</a:t>
            </a:r>
          </a:p>
          <a:p>
            <a:r>
              <a:t>预抓取；双指接触后辅助抓持；装配、放置、松手与静置；基础版双步长证据。</a:t>
            </a:r>
          </a:p>
          <a:p>
            <a:r>
              <a:t>cam_high: /home/jianwen/topogym/demos/cast_coil/cam_high/2026-09-17_aloha_full_cam_high.mp4</a:t>
            </a:r>
          </a:p>
          <a:p>
            <a:r>
              <a:t>cam_low: /home/jianwen/topogym/demos/cast_coil/cam_low/2026-09-17_aloha_full_cam_low.mp4</a:t>
            </a:r>
          </a:p>
          <a:p>
            <a:r>
              <a:t>cam_left_wrist: /home/jianwen/topogym/demos/cast_coil/cam_left_wrist/2026-09-17_aloha_full_cam_left_wrist.mp4</a:t>
            </a:r>
          </a:p>
          <a:p>
            <a:r>
              <a:t>cam_right_wrist: /home/jianwen/topogym/demos/cast_coil/cam_right_wrist/2026-09-17_aloha_full_cam_right_wrist.mp4</a:t>
            </a:r>
          </a:p>
          <a:p>
            <a:r>
              <a:t>front_oblique: /home/jianwen/topogym/demos/cast_coil/front_oblique/2026-09-17_aloha_full_front_oblique.mp4</a:t>
            </a:r>
          </a:p>
          <a:p/>
          <a:p>
            <a:r>
              <a:t>来源（相对仓库根目录）：</a:t>
            </a:r>
          </a:p>
          <a:p>
            <a:r>
              <a:t>docs/develop/tasks/cast_coil_seed_generator_zh.md</a:t>
            </a:r>
          </a:p>
          <a:p>
            <a:r>
              <a:t>reports/weekly/2026-09-19/demo_inventory.json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F1 长行程穿齿、F2 偏心绕行、F3 转向后回退；三族各三种外形。</a:t>
            </a:r>
          </a:p>
          <a:p>
            <a:r>
              <a:t>256 seed 复现；200 次实体/边界检查；3 实例 × 2 步长通过。</a:t>
            </a:r>
          </a:p>
          <a:p>
            <a:r>
              <a:t>物理资格止于预抓取、辅助拆解后持稳；不含放桌松手。</a:t>
            </a:r>
          </a:p>
          <a:p>
            <a:r>
              <a:t>每个新实例独立验收；生成端与 agent 终态协议继续对齐。</a:t>
            </a:r>
          </a:p>
          <a:p/>
          <a:p>
            <a:r>
              <a:t>基础拆解</a:t>
            </a:r>
          </a:p>
          <a:p>
            <a:r>
              <a:t>预抓取、接触辅助；完整拆解后保持抓持；不含放桌松手。</a:t>
            </a:r>
          </a:p>
          <a:p>
            <a:r>
              <a:t>cam_high: /home/jianwen/topogym/demos/cast_keyhole/cam_high/2026-09-17_current_instance_physical_cam_high.mp4</a:t>
            </a:r>
          </a:p>
          <a:p>
            <a:r>
              <a:t>cam_low: /home/jianwen/topogym/demos/cast_keyhole/cam_low/2026-09-17_current_instance_physical_cam_low.mp4</a:t>
            </a:r>
          </a:p>
          <a:p>
            <a:r>
              <a:t>cam_left_wrist: /home/jianwen/topogym/demos/cast_keyhole/cam_left_wrist/2026-09-17_current_instance_physical_cam_left_wrist.mp4</a:t>
            </a:r>
          </a:p>
          <a:p>
            <a:r>
              <a:t>cam_right_wrist: /home/jianwen/topogym/demos/cast_keyhole/cam_right_wrist/2026-09-17_current_instance_physical_cam_right_wrist.mp4</a:t>
            </a:r>
          </a:p>
          <a:p>
            <a:r>
              <a:t>detail: /home/jianwen/topogym/demos/cast_keyhole/detail/2026-09-17_current_instance_physical_detail.mp4</a:t>
            </a:r>
          </a:p>
          <a:p/>
          <a:p>
            <a:r>
              <a:t>来源（相对仓库根目录）：</a:t>
            </a:r>
          </a:p>
          <a:p>
            <a:r>
              <a:t>docs/develop/tasks/cast_keyhole_variants_zh.md</a:t>
            </a:r>
          </a:p>
          <a:p>
            <a:r>
              <a:t>reports/weekly/2026-09-19/demo_inventory.json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高位 / 外侧 / 后撤接近形成三族；路线差异约 20–22 cm。</a:t>
            </a:r>
          </a:p>
          <a:p>
            <a:r>
              <a:t>256 seed 参数检查；48 项初态/折合 IK；逐实例验收入口已接通。</a:t>
            </a:r>
          </a:p>
          <a:p>
            <a:r>
              <a:t>新族只完成 2 ms 验收，未做 1 ms 复验；不能继承基础版资格。</a:t>
            </a:r>
          </a:p>
          <a:p>
            <a:r>
              <a:t>最终条件域放行 3 个实例；补齐新族半步长和稳定性验收。</a:t>
            </a:r>
          </a:p>
          <a:p/>
          <a:p>
            <a:r>
              <a:t>重力修正基础版</a:t>
            </a:r>
          </a:p>
          <a:p>
            <a:r>
              <a:t>预抓持、辅助抓持；交接、取环、自由落桌；基础版 2/1 ms 复验通过。</a:t>
            </a:r>
          </a:p>
          <a:p>
            <a:r>
              <a:t>cam_high: /home/jianwen/topogym/demos/horseshoe_ring/cam_high/2026-09-18_gravity_replanned_v1_cam_high.mp4</a:t>
            </a:r>
          </a:p>
          <a:p>
            <a:r>
              <a:t>cam_low: /home/jianwen/topogym/demos/horseshoe_ring/cam_low/2026-09-18_gravity_replanned_v1_cam_low.mp4</a:t>
            </a:r>
          </a:p>
          <a:p>
            <a:r>
              <a:t>cam_left_wrist: /home/jianwen/topogym/demos/horseshoe_ring/cam_left_wrist/2026-09-18_gravity_replanned_v1_cam_left_wrist.mp4</a:t>
            </a:r>
          </a:p>
          <a:p>
            <a:r>
              <a:t>cam_right_wrist: /home/jianwen/topogym/demos/horseshoe_ring/cam_right_wrist/2026-09-18_gravity_replanned_v1_cam_right_wrist.mp4</a:t>
            </a:r>
          </a:p>
          <a:p>
            <a:r>
              <a:t>detail: /home/jianwen/topogym/demos/horseshoe_ring/detail/2026-09-18_gravity_replanned_v1_detail.mp4</a:t>
            </a:r>
          </a:p>
          <a:p/>
          <a:p>
            <a:r>
              <a:t>来源（相对仓库根目录）：</a:t>
            </a:r>
          </a:p>
          <a:p>
            <a:r>
              <a:t>docs/develop/tasks/horseshoe_ring_variant_generator_zh.md</a:t>
            </a:r>
          </a:p>
          <a:p>
            <a:r>
              <a:t>reports/weekly/2026-09-19/demo_inventory.json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当前默认池：单斜窗、固定六刺侧孔、GEN 顶部钥匙孔。</a:t>
            </a:r>
          </a:p>
          <a:p>
            <a:r>
              <a:t>两种新原型完整取出/释放，两档子步通过；13 实例预检通过。</a:t>
            </a:r>
          </a:p>
          <a:p>
            <a:r>
              <a:t>随机后代尚未物理执行。侧孔与 CLASSIC 共享侧向取出策略。</a:t>
            </a:r>
          </a:p>
          <a:p>
            <a:r>
              <a:t>沿用 v2 seed 与重载接口，逐例补动力学；不混入 v3 几何预演。</a:t>
            </a:r>
          </a:p>
          <a:p/>
          <a:p>
            <a:r>
              <a:t>CLASSIC wood：agent 测试基础版</a:t>
            </a:r>
          </a:p>
          <a:p>
            <a:r>
              <a:t>预抓取、接触辅助；取出、放桌、松手、撤离和静置。</a:t>
            </a:r>
          </a:p>
          <a:p>
            <a:r>
              <a:t>agentview: /home/jianwen/topogym/demos/hedgehog_in_cage/agentview/2026-09-16_classic_wood_extraction_agentview.mp4</a:t>
            </a:r>
          </a:p>
          <a:p>
            <a:r>
              <a:t>front_oblique: /home/jianwen/topogym/demos/hedgehog_in_cage/front_oblique/2026-09-16_classic_wood_extraction_front_oblique.mp4</a:t>
            </a:r>
          </a:p>
          <a:p>
            <a:r>
              <a:t>wrist: /home/jianwen/topogym/demos/hedgehog_in_cage/wrist/2026-09-16_classic_wood_extraction_wrist.mp4</a:t>
            </a:r>
          </a:p>
          <a:p/>
          <a:p>
            <a:r>
              <a:t>当前家族 A：单斜窗</a:t>
            </a:r>
          </a:p>
          <a:p>
            <a:r>
              <a:t>预抓取、接触辅助；取出、放桌、松手、撤离和静置。</a:t>
            </a:r>
          </a:p>
          <a:p>
            <a:r>
              <a:t>agentview: /home/jianwen/topogym/demos/hedgehog_in_cage/agentview/2026-09-17_family_a_oblique_gate_v1_agentview.mp4</a:t>
            </a:r>
          </a:p>
          <a:p>
            <a:r>
              <a:t>front_oblique: /home/jianwen/topogym/demos/hedgehog_in_cage/front_oblique/2026-09-17_family_a_oblique_gate_v1_front_oblique.mp4</a:t>
            </a:r>
          </a:p>
          <a:p>
            <a:r>
              <a:t>wrist: /home/jianwen/topogym/demos/hedgehog_in_cage/wrist/2026-09-17_family_a_oblique_gate_v1_wrist.mp4</a:t>
            </a:r>
          </a:p>
          <a:p/>
          <a:p>
            <a:r>
              <a:t>当前家族 B：固定六刺侧孔</a:t>
            </a:r>
          </a:p>
          <a:p>
            <a:r>
              <a:t>预抓取、接触辅助；取出、放桌、松手、撤离和静置。</a:t>
            </a:r>
          </a:p>
          <a:p>
            <a:r>
              <a:t>agentview: /home/jianwen/topogym/demos/hedgehog_in_cage/agentview/2026-09-19_fixed_side_window_v2_agentview.mp4</a:t>
            </a:r>
          </a:p>
          <a:p>
            <a:r>
              <a:t>front_oblique: /home/jianwen/topogym/demos/hedgehog_in_cage/front_oblique/2026-09-19_fixed_side_window_v2_front_oblique.mp4</a:t>
            </a:r>
          </a:p>
          <a:p>
            <a:r>
              <a:t>wrist: /home/jianwen/topogym/demos/hedgehog_in_cage/wrist/2026-09-19_fixed_side_window_v2_wrist.mp4</a:t>
            </a:r>
          </a:p>
          <a:p/>
          <a:p>
            <a:r>
              <a:t>当前家族 C：GEN 顶部钥匙孔</a:t>
            </a:r>
          </a:p>
          <a:p>
            <a:r>
              <a:t>预抓取、接触辅助；取出、放桌、松手、撤离和静置。</a:t>
            </a:r>
          </a:p>
          <a:p>
            <a:r>
              <a:t>agentview: /home/jianwen/topogym/demos/hedgehog_in_cage/agentview/2026-09-19_gen_keyhole_v2_agentview.mp4</a:t>
            </a:r>
          </a:p>
          <a:p>
            <a:r>
              <a:t>front_oblique: /home/jianwen/topogym/demos/hedgehog_in_cage/front_oblique/2026-09-19_gen_keyhole_v2_front_oblique.mp4</a:t>
            </a:r>
          </a:p>
          <a:p>
            <a:r>
              <a:t>wrist: /home/jianwen/topogym/demos/hedgehog_in_cage/wrist/2026-09-19_gen_keyhole_v2_wrist.mp4</a:t>
            </a:r>
          </a:p>
          <a:p/>
          <a:p>
            <a:r>
              <a:t>来源（相对仓库根目录）：</a:t>
            </a:r>
          </a:p>
          <a:p>
            <a:r>
              <a:t>docs/develop/tasks/hedgehog_in_cage_zh.md</a:t>
            </a:r>
          </a:p>
          <a:p>
            <a:r>
              <a:t>reports/weekly/2026-09-19/demo_inventory.json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F1/F2/F3 必要回退 1/2/3 次：体现序列复杂度，尚无实测难度排序。</a:t>
            </a:r>
          </a:p>
          <a:p>
            <a:r>
              <a:t>256 seed 在最多 8 次尝试内通过几何/IK；九个 S/M/L 代表通过。</a:t>
            </a:r>
          </a:p>
          <a:p>
            <a:r>
              <a:t>99 个 seed 需要重试；新三族完整抓起、动力学和松手未验收。</a:t>
            </a:r>
          </a:p>
          <a:p>
            <a:r>
              <a:t>将已对齐的 IK 路径接到完整抓取与释放流程，再逐例验收。</a:t>
            </a:r>
          </a:p>
          <a:p/>
          <a:p>
            <a:r>
              <a:t>150 mm 两回退基础版</a:t>
            </a:r>
          </a:p>
          <a:p>
            <a:r>
              <a:t>成功物理状态重渲染；被动夹爪连杆按开合量重建；不是新的动力学执行。</a:t>
            </a:r>
          </a:p>
          <a:p>
            <a:r>
              <a:t>agentview: /home/jianwen/topogym/demos/lock_picking/agentview/2026-09-18_standard_150mm_purple_trace_v1_agentview.mp4</a:t>
            </a:r>
          </a:p>
          <a:p>
            <a:r>
              <a:t>front_oblique: /home/jianwen/topogym/demos/lock_picking/front_oblique/2026-09-18_standard_150mm_purple_trace_v1_front_oblique.mp4</a:t>
            </a:r>
          </a:p>
          <a:p>
            <a:r>
              <a:t>wrist: /home/jianwen/topogym/demos/lock_picking/wrist/2026-09-18_standard_150mm_purple_trace_v1_wrist.mp4</a:t>
            </a:r>
          </a:p>
          <a:p/>
          <a:p>
            <a:r>
              <a:t>来源（相对仓库根目录）：</a:t>
            </a:r>
          </a:p>
          <a:p>
            <a:r>
              <a:t>docs/develop/tasks/lock_picking_seed_generator_zh.md</a:t>
            </a:r>
          </a:p>
          <a:p>
            <a:r>
              <a:t>reports/weekly/2026-09-19/demo_inventory.json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保留稀疏 / 标准 / 密集三类；按已确认规则，不要求三种本质不同 IK。</a:t>
            </a:r>
          </a:p>
          <a:p>
            <a:r>
              <a:t>300 seed 几何、39 边界组合通过；3 随机实例短静置通过。</a:t>
            </a:r>
          </a:p>
          <a:p>
            <a:r>
              <a:t>基础 8 芯两步长均穿环成功，但严格全程线形收敛未通过。</a:t>
            </a:r>
          </a:p>
          <a:p>
            <a:r>
              <a:t>按实例检查 IK、细线禁碰、完整穿环和数值稳定性。</a:t>
            </a:r>
          </a:p>
          <a:p/>
          <a:p>
            <a:r>
              <a:t>8 芯 / R13.5 mm 基础版</a:t>
            </a:r>
          </a:p>
          <a:p>
            <a:r>
              <a:t>实际接触后辅助抓持，只抓粗护套；末态仍夹持；两步长均完成，严格线形收敛未通过。</a:t>
            </a:r>
          </a:p>
          <a:p>
            <a:r>
              <a:t>agentview: /home/jianwen/topogym/demos/fiber_bundling/agentview/2026-09-18_standard_08_r13p5mm_clean_v1_agentview.mp4</a:t>
            </a:r>
          </a:p>
          <a:p>
            <a:r>
              <a:t>front_oblique: /home/jianwen/topogym/demos/fiber_bundling/front_oblique/2026-09-18_standard_08_r13p5mm_clean_v1_front_oblique.mp4</a:t>
            </a:r>
          </a:p>
          <a:p>
            <a:r>
              <a:t>wrist: /home/jianwen/topogym/demos/fiber_bundling/wrist/2026-09-18_standard_08_r13p5mm_clean_v1_wrist.mp4</a:t>
            </a:r>
          </a:p>
          <a:p/>
          <a:p>
            <a:r>
              <a:t>来源（相对仓库根目录）：</a:t>
            </a:r>
          </a:p>
          <a:p>
            <a:r>
              <a:t>docs/develop/tasks/fiber_bundling_variant_pipeline_zh.md</a:t>
            </a:r>
          </a:p>
          <a:p>
            <a:r>
              <a:t>reports/weekly/2026-09-19/demo_inventory.json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B0 螺旋冠、C0 正交双窗已形成新的完整物理执行证据。</a:t>
            </a:r>
          </a:p>
          <a:p>
            <a:r>
              <a:t>B0/C0 均完成双臂执行、放桌松手、独立静置与半步长复验。</a:t>
            </a:r>
          </a:p>
          <a:p>
            <a:r>
              <a:t>新原型使用 MuJoCo；未接旧 seed API。A0 的 Genesis 接触限制仍在。</a:t>
            </a:r>
          </a:p>
          <a:p>
            <a:r>
              <a:t>发布新版本生成器，重新配对实例、IK 和物理资格。</a:t>
            </a:r>
          </a:p>
          <a:p/>
          <a:p>
            <a:r>
              <a:t>A0 原版</a:t>
            </a:r>
          </a:p>
          <a:p>
            <a:r>
              <a:t>辅助抓持全过程；原非凸接触资格限制保留；与 B0/C0 的 MuJoCo 证据分开。</a:t>
            </a:r>
          </a:p>
          <a:p>
            <a:r>
              <a:t>cam_high: /home/jianwen/topogym/demos/interlocked_claws/cam_high/2026-09-17_reference_full_v1_cam_high.mp4</a:t>
            </a:r>
          </a:p>
          <a:p>
            <a:r>
              <a:t>cam_low: /home/jianwen/topogym/demos/interlocked_claws/cam_low/2026-09-17_reference_full_v1_cam_low.mp4</a:t>
            </a:r>
          </a:p>
          <a:p>
            <a:r>
              <a:t>cam_left_wrist: /home/jianwen/topogym/demos/interlocked_claws/cam_left_wrist/2026-09-17_reference_full_v1_cam_left_wrist.mp4</a:t>
            </a:r>
          </a:p>
          <a:p>
            <a:r>
              <a:t>cam_right_wrist: /home/jianwen/topogym/demos/interlocked_claws/cam_right_wrist/2026-09-17_reference_full_v1_cam_right_wrist.mp4</a:t>
            </a:r>
          </a:p>
          <a:p>
            <a:r>
              <a:t>detail: /home/jianwen/topogym/demos/interlocked_claws/detail/2026-09-17_reference_full_v1_detail.mp4</a:t>
            </a:r>
          </a:p>
          <a:p/>
          <a:p>
            <a:r>
              <a:t>B0 螺旋冠</a:t>
            </a:r>
          </a:p>
          <a:p>
            <a:r>
              <a:t>MuJoCo；预抓持和理想焊接辅助，完整分离、落桌、松手；双步长通过。</a:t>
            </a:r>
          </a:p>
          <a:p>
            <a:r>
              <a:t>cam_high: /home/jianwen/topogym/demos/interlocked_claws/cam_high/2026-09-19_helical_crown_physical_v1_cam_high.mp4</a:t>
            </a:r>
          </a:p>
          <a:p>
            <a:r>
              <a:t>cam_low: /home/jianwen/topogym/demos/interlocked_claws/cam_low/2026-09-19_helical_crown_physical_v1_cam_low.mp4</a:t>
            </a:r>
          </a:p>
          <a:p>
            <a:r>
              <a:t>cam_left_wrist: /home/jianwen/topogym/demos/interlocked_claws/cam_left_wrist/2026-09-19_helical_crown_physical_v1_cam_left_wrist.mp4</a:t>
            </a:r>
          </a:p>
          <a:p>
            <a:r>
              <a:t>cam_right_wrist: /home/jianwen/topogym/demos/interlocked_claws/cam_right_wrist/2026-09-19_helical_crown_physical_v1_cam_right_wrist.mp4</a:t>
            </a:r>
          </a:p>
          <a:p>
            <a:r>
              <a:t>detail: /home/jianwen/topogym/demos/interlocked_claws/detail/2026-09-19_helical_crown_physical_v2_detail.mp4</a:t>
            </a:r>
          </a:p>
          <a:p/>
          <a:p>
            <a:r>
              <a:t>C0 正交双窗</a:t>
            </a:r>
          </a:p>
          <a:p>
            <a:r>
              <a:t>MuJoCo；预抓持和理想焊接辅助，完整分离、落桌、松手；双步长通过。</a:t>
            </a:r>
          </a:p>
          <a:p>
            <a:r>
              <a:t>cam_high: /home/jianwen/topogym/demos/interlocked_claws/cam_high/2026-09-19_orthogonal_gate_physical_v2_cam_high.mp4</a:t>
            </a:r>
          </a:p>
          <a:p>
            <a:r>
              <a:t>cam_low: /home/jianwen/topogym/demos/interlocked_claws/cam_low/2026-09-19_orthogonal_gate_physical_v2_cam_low.mp4</a:t>
            </a:r>
          </a:p>
          <a:p>
            <a:r>
              <a:t>cam_left_wrist: /home/jianwen/topogym/demos/interlocked_claws/cam_left_wrist/2026-09-19_orthogonal_gate_physical_v2_cam_left_wrist.mp4</a:t>
            </a:r>
          </a:p>
          <a:p>
            <a:r>
              <a:t>cam_right_wrist: /home/jianwen/topogym/demos/interlocked_claws/cam_right_wrist/2026-09-19_orthogonal_gate_physical_v2_cam_right_wrist.mp4</a:t>
            </a:r>
          </a:p>
          <a:p>
            <a:r>
              <a:t>detail: /home/jianwen/topogym/demos/interlocked_claws/detail/2026-09-19_orthogonal_gate_physical_v2_detail.mp4</a:t>
            </a:r>
          </a:p>
          <a:p/>
          <a:p>
            <a:r>
              <a:t>来源（相对仓库根目录）：</a:t>
            </a:r>
          </a:p>
          <a:p>
            <a:r>
              <a:t>docs/develop/tasks/interlocked_claws_authored_physics_zh.md</a:t>
            </a:r>
          </a:p>
          <a:p>
            <a:r>
              <a:t>reports/weekly/2026-09-19/demo_inventory.json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三叶结已有连续轨迹；八字结、双重单结已建模，连续执行仍在验证。</a:t>
            </a:r>
          </a:p>
          <a:p>
            <a:r>
              <a:t>两种新结型各有 10 s 独立静置；18 组收窄边界首段预检通过。</a:t>
            </a:r>
          </a:p>
          <a:p>
            <a:r>
              <a:t>v9 的 P3 网格收敛及通用双手交接未过；新族尚无完整成功。</a:t>
            </a:r>
          </a:p>
          <a:p>
            <a:r>
              <a:t>完成独立解结路线与释放验收；easy/medium/hard 仍是目标档。</a:t>
            </a:r>
          </a:p>
          <a:p/>
          <a:p>
            <a:r>
              <a:t>三叶结 v9</a:t>
            </a:r>
          </a:p>
          <a:p>
            <a:r>
              <a:t>连续解结、释放、静置；接触辅助；本轨迹通过，P3 网格收敛和通用双手交接未通过。</a:t>
            </a:r>
          </a:p>
          <a:p>
            <a:r>
              <a:t>cam_high: /home/jianwen/topogym/demos/knot_untying/cam_high/2026-09-17_bounded_spread_trefoil_v9_cam_high.mp4</a:t>
            </a:r>
          </a:p>
          <a:p>
            <a:r>
              <a:t>cam_low: /home/jianwen/topogym/demos/knot_untying/cam_low/2026-09-17_bounded_spread_trefoil_v9_cam_low.mp4</a:t>
            </a:r>
          </a:p>
          <a:p>
            <a:r>
              <a:t>cam_left_wrist: /home/jianwen/topogym/demos/knot_untying/cam_left_wrist/2026-09-17_bounded_spread_trefoil_v9_cam_left_wrist.mp4</a:t>
            </a:r>
          </a:p>
          <a:p>
            <a:r>
              <a:t>cam_right_wrist: /home/jianwen/topogym/demos/knot_untying/cam_right_wrist/2026-09-17_bounded_spread_trefoil_v9_cam_right_wrist.mp4</a:t>
            </a:r>
          </a:p>
          <a:p>
            <a:r>
              <a:t>detail: /home/jianwen/topogym/demos/knot_untying/detail/2026-09-17_bounded_spread_trefoil_v9_detail.mp4</a:t>
            </a:r>
          </a:p>
          <a:p/>
          <a:p>
            <a:r>
              <a:t>来源（相对仓库根目录）：</a:t>
            </a:r>
          </a:p>
          <a:p>
            <a:r>
              <a:t>docs/develop/tasks/knot_untying_family_space_zh.md</a:t>
            </a:r>
          </a:p>
          <a:p>
            <a:r>
              <a:t>reports/weekly/2026-09-19/demo_inventory.json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F3 四关 v3 主运行通过；F2 后半程仍在搜索。</a:t>
            </a:r>
          </a:p>
          <a:p>
            <a:r>
              <a:t>F3 的 10001 点密集 IK 通过；106.92 s 真实摩擦抓持主执行完成。</a:t>
            </a:r>
          </a:p>
          <a:p>
            <a:r>
              <a:t>F3 独立 2 ms 复验重跑中；随机范围尚未逐实例认证。</a:t>
            </a:r>
          </a:p>
          <a:p>
            <a:r>
              <a:t>完成 F3 复验与归档，继续 F2 完整路线及机器人净空检查。</a:t>
            </a:r>
          </a:p>
          <a:p/>
          <a:p>
            <a:r>
              <a:t>紧凑单臂基础版</a:t>
            </a:r>
          </a:p>
          <a:p>
            <a:r>
              <a:t>预穿环/预抓取，实际摩擦夹持，完整通行、释放、滑落、静置；半步长复验通过。</a:t>
            </a:r>
          </a:p>
          <a:p>
            <a:r>
              <a:t>agentview: /home/jianwen/topogym/demos/buzz_wire_3d/agentview/2026-09-18_compact_single_arm_v1_agentview.mp4</a:t>
            </a:r>
          </a:p>
          <a:p>
            <a:r>
              <a:t>front_oblique: /home/jianwen/topogym/demos/buzz_wire_3d/front_oblique/2026-09-18_compact_single_arm_v1_front_oblique.mp4</a:t>
            </a:r>
          </a:p>
          <a:p>
            <a:r>
              <a:t>wrist: /home/jianwen/topogym/demos/buzz_wire_3d/wrist/2026-09-18_compact_single_arm_v1_wrist.mp4</a:t>
            </a:r>
          </a:p>
          <a:p/>
          <a:p>
            <a:r>
              <a:t>F3 四关 v3 最新主运行</a:t>
            </a:r>
          </a:p>
          <a:p>
            <a:r>
              <a:t>同一次主物理运行成功；纯摩擦抓持；实测状态重渲染；小步长复验未完成，待归档。</a:t>
            </a:r>
          </a:p>
          <a:p>
            <a:r>
              <a:t>agentview: /home/jianwen/topogym/runs/environment-solvability/buzz_wire_3d/family_solvability_20260919/F3_render_03/agentview.mp4</a:t>
            </a:r>
          </a:p>
          <a:p>
            <a:r>
              <a:t>front_oblique: /home/jianwen/topogym/runs/environment-solvability/buzz_wire_3d/family_solvability_20260919/F3_render_03/front_oblique.mp4</a:t>
            </a:r>
          </a:p>
          <a:p>
            <a:r>
              <a:t>wrist: /home/jianwen/topogym/runs/environment-solvability/buzz_wire_3d/family_solvability_20260919/F3_render_03/wrist.mp4</a:t>
            </a:r>
          </a:p>
          <a:p/>
          <a:p>
            <a:r>
              <a:t>来源（相对仓库根目录）：</a:t>
            </a:r>
          </a:p>
          <a:p>
            <a:r>
              <a:t>runs/environment-solvability/buzz_wire_3d/family_solvability_20260919/result.md</a:t>
            </a:r>
          </a:p>
          <a:p>
            <a:r>
              <a:t>reports/weekly/2026-09-19/demo_inventory.json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最新可播放录像是局部前段；三环完整参考执行仍在进行。</a:t>
            </a:r>
          </a:p>
          <a:p>
            <a:r>
              <a:t>抓取、抬升、释放与静置前段通过；五路同步录像共 29.05 s。</a:t>
            </a:r>
          </a:p>
          <a:p>
            <a:r>
              <a:t>全流程快照 19.005 s，双手抓持有效；尚未获得三环完整成功。</a:t>
            </a:r>
          </a:p>
          <a:p>
            <a:r>
              <a:t>继续长程执行；解决加载半步长迟发运动与静置验收。</a:t>
            </a:r>
          </a:p>
          <a:p/>
          <a:p>
            <a:r>
              <a:t>最新完成的前段录像</a:t>
            </a:r>
          </a:p>
          <a:p>
            <a:r>
              <a:t>仅抓取、抬升、主动释放和静置；不含三环全过程；完整试跑仍在进行。</a:t>
            </a:r>
          </a:p>
          <a:p>
            <a:r>
              <a:t>cam_high: /home/jianwen/topogym/runs/environment-solvability/rope_threading/physics_soft50_damped20_compressible_fine_v13/robot_prefix_attempt_2/cam_high.mp4</a:t>
            </a:r>
          </a:p>
          <a:p>
            <a:r>
              <a:t>cam_low: /home/jianwen/topogym/runs/environment-solvability/rope_threading/physics_soft50_damped20_compressible_fine_v13/robot_prefix_attempt_2/cam_low.mp4</a:t>
            </a:r>
          </a:p>
          <a:p>
            <a:r>
              <a:t>cam_left_wrist: /home/jianwen/topogym/runs/environment-solvability/rope_threading/physics_soft50_damped20_compressible_fine_v13/robot_prefix_attempt_2/cam_left_wrist.mp4</a:t>
            </a:r>
          </a:p>
          <a:p>
            <a:r>
              <a:t>cam_right_wrist: /home/jianwen/topogym/runs/environment-solvability/rope_threading/physics_soft50_damped20_compressible_fine_v13/robot_prefix_attempt_2/cam_right_wrist.mp4</a:t>
            </a:r>
          </a:p>
          <a:p>
            <a:r>
              <a:t>detail: /home/jianwen/topogym/runs/environment-solvability/rope_threading/physics_soft50_damped20_compressible_fine_v13/robot_prefix_attempt_2/detail.mp4</a:t>
            </a:r>
          </a:p>
          <a:p/>
          <a:p>
            <a:r>
              <a:t>来源（相对仓库根目录）：</a:t>
            </a:r>
          </a:p>
          <a:p>
            <a:r>
              <a:t>docs/develop/tasks/rope_threading_zh.md</a:t>
            </a:r>
          </a:p>
          <a:p>
            <a:r>
              <a:t>reports/weekly/2026-09-19/demo_inventory.json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当前选定麻花初态稳定；尚未获得复杂初态的成功展平 demo。</a:t>
            </a:r>
          </a:p>
          <a:p>
            <a:r>
              <a:t>独立静置 10 s 通过，最大漂移 0.143 mm；v10 三路已完整录制。</a:t>
            </a:r>
          </a:p>
          <a:p>
            <a:r>
              <a:t>v10 八次保护释放，末态覆盖 45.4%；v8 为 75.7%，仍未达标。</a:t>
            </a:r>
          </a:p>
          <a:p>
            <a:r>
              <a:t>解决解扭、被覆盖布角与拉伸控制；旧简单初态成功单独保留。</a:t>
            </a:r>
          </a:p>
          <a:p/>
          <a:p>
            <a:r>
              <a:t>选定麻花初态 v10：最新未完成</a:t>
            </a:r>
          </a:p>
          <a:p>
            <a:r>
              <a:t>八次保护释放，末态覆盖率 45.4%；2 fps 实测状态重渲染；不是成功展平。</a:t>
            </a:r>
          </a:p>
          <a:p>
            <a:r>
              <a:t>agentview: /home/jianwen/topogym/runs/environment_bootstrap/blanket_flatten/gathered_robot_v10/render/agentview.mp4</a:t>
            </a:r>
          </a:p>
          <a:p>
            <a:r>
              <a:t>front_oblique: /home/jianwen/topogym/runs/environment_bootstrap/blanket_flatten/gathered_robot_v10/render/front_oblique.mp4</a:t>
            </a:r>
          </a:p>
          <a:p>
            <a:r>
              <a:t>wrist: /home/jianwen/topogym/runs/environment_bootstrap/blanket_flatten/gathered_robot_v10/render/wrist.mp4</a:t>
            </a:r>
          </a:p>
          <a:p/>
          <a:p>
            <a:r>
              <a:t>选定麻花初态 v8：补充进展</a:t>
            </a:r>
          </a:p>
          <a:p>
            <a:r>
              <a:t>七次抓放，末态覆盖率 75.7%；仍有折叠，未达到 90% 等终态标准。</a:t>
            </a:r>
          </a:p>
          <a:p>
            <a:r>
              <a:t>agentview: /home/jianwen/topogym/runs/environment_bootstrap/blanket_flatten/gathered_robot_v8/render/agentview.mp4</a:t>
            </a:r>
          </a:p>
          <a:p>
            <a:r>
              <a:t>front_oblique: /home/jianwen/topogym/runs/environment_bootstrap/blanket_flatten/gathered_robot_v8/render/front_oblique.mp4</a:t>
            </a:r>
          </a:p>
          <a:p>
            <a:r>
              <a:t>wrist: /home/jianwen/topogym/runs/environment_bootstrap/blanket_flatten/gathered_robot_v8/render/wrist.mp4</a:t>
            </a:r>
          </a:p>
          <a:p/>
          <a:p>
            <a:r>
              <a:t>旧简单初态：已有完整成功</a:t>
            </a:r>
          </a:p>
          <a:p>
            <a:r>
              <a:t>简单初态，辅助抓角、展开、松手、静置；不能替代选定复杂初态的成功证据。</a:t>
            </a:r>
          </a:p>
          <a:p>
            <a:r>
              <a:t>agentview: /home/jianwen/topogym/demos/blanket_flatten/agentview/2026-09-18_single_arm_clear_home_v1_agentview.mp4</a:t>
            </a:r>
          </a:p>
          <a:p>
            <a:r>
              <a:t>front_oblique: /home/jianwen/topogym/demos/blanket_flatten/front_oblique/2026-09-18_single_arm_clear_home_v1_front_oblique.mp4</a:t>
            </a:r>
          </a:p>
          <a:p>
            <a:r>
              <a:t>wrist: /home/jianwen/topogym/demos/blanket_flatten/wrist/2026-09-18_single_arm_clear_home_v1_wrist.mp4</a:t>
            </a:r>
          </a:p>
          <a:p/>
          <a:p>
            <a:r>
              <a:t>来源（相对仓库根目录）：</a:t>
            </a:r>
          </a:p>
          <a:p>
            <a:r>
              <a:t>runs/environment_bootstrap/blanket_flatten/gathered_robot_study/result.md</a:t>
            </a:r>
          </a:p>
          <a:p>
            <a:r>
              <a:t>reports/weekly/2026-09-19/demo_inventory.json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所有数值沿用 18:24:55 CDT 冻结状态。运行状态不等于正式任务有效性或严格预算下的能力结论。</a:t>
            </a:r>
          </a:p>
          <a:p/>
          <a:p>
            <a:r>
              <a:t>来源（相对仓库根目录）：</a:t>
            </a:r>
          </a:p>
          <a:p>
            <a:r>
              <a:t>reports/weekly/2026-09-19/token_audit.json</a:t>
            </a:r>
          </a:p>
          <a:p>
            <a:r>
              <a:t>reports/weekly/2026-09-19/weekly-report.md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结束轮次统计含最终答复、排除后续讨论；Claws 为快照下界。Horseshoe 旧快照 2,385,756 更新为完整 episode 2,819,223；Hedgehog 从旧快照 1,934,167 更新为 2,109,472。仅补核原生记录，未修改原 bridge 账本。</a:t>
            </a:r>
          </a:p>
          <a:p/>
          <a:p>
            <a:r>
              <a:t>来源（相对仓库根目录）：</a:t>
            </a:r>
          </a:p>
          <a:p>
            <a:r>
              <a:t>reports/weekly/2026-09-19/token_audit.json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五项任务均明确标为未开始；不将接口 smoke test、工程调参和已有参考 demo 计入 GPT-6 试验。</a:t>
            </a:r>
          </a:p>
          <a:p/>
          <a:p>
            <a:r>
              <a:t>来源（相对仓库根目录）：</a:t>
            </a:r>
          </a:p>
          <a:p>
            <a:r>
              <a:t>reports/weekly/2026-09-19/weekly-report.md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这是待 reviewer 评估的方法建议，并非已完成的全量数据保证。初态、抓持辅助、控制接口、释放与终态判据必须与受测协议一致。</a:t>
            </a:r>
          </a:p>
          <a:p/>
          <a:p>
            <a:r>
              <a:t>来源（相对仓库根目录）：</a:t>
            </a:r>
          </a:p>
          <a:p>
            <a:r>
              <a:t>reports/weekly/2026-09-19/weekly-report.md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记录 seed、版本、资产/配置哈希、初态、动作、成功判据与报告。参考控制器失败不等于不可解；有限负对照也不证明唯一解。</a:t>
            </a:r>
          </a:p>
          <a:p/>
          <a:p>
            <a:r>
              <a:t>来源（相对仓库根目录）：</a:t>
            </a:r>
          </a:p>
          <a:p>
            <a:r>
              <a:t>reports/weekly/2026-09-19/weekly-report.md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允许终端、通用库、图像分析和自行编写的 IK/规划；联网由配置固定。代码预检查拒绝不推进仿真，网络结果不明用同 request ID 重试。ready 不表示成功。</a:t>
            </a:r>
          </a:p>
          <a:p/>
          <a:p>
            <a:r>
              <a:t>来源（相对仓库根目录）：</a:t>
            </a:r>
          </a:p>
          <a:p>
            <a:r>
              <a:t>docs/develop/modules/agent_bridge_zh.md</a:t>
            </a:r>
          </a:p>
          <a:p>
            <a:r>
              <a:t>docs/develop/modules/agent_solver_prompt_zh.md</a:t>
            </a:r>
          </a:p>
          <a:p>
            <a:r>
              <a:t>docs/develop/modules/agent_test_demos_zh.md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请 reviewer 确认：1）最终收录实例的可解见证及稳定性最低标准；2）直接 coding-agent session 的信息/工具范围及正式 2M 评测控制条件。</a:t>
            </a:r>
          </a:p>
          <a:p/>
          <a:p>
            <a:r>
              <a:t>来源（相对仓库根目录）：</a:t>
            </a:r>
          </a:p>
          <a:p>
            <a:r>
              <a:t>reports/weekly/2026-09-19/weekly-report.md</a:t>
            </a:r>
          </a:p>
          <a:p>
            <a:r>
              <a:t>reports/weekly/2026-09-19/token_audit.json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hyperlink" Target="../../demos/cast_coil/cam_high/2026-09-17_aloha_full_cam_high.mp4" TargetMode="External"/><Relationship Id="rId4" Type="http://schemas.openxmlformats.org/officeDocument/2006/relationships/image" Target="../media/image2.jpg"/><Relationship Id="rId5" Type="http://schemas.openxmlformats.org/officeDocument/2006/relationships/hyperlink" Target="../../demos/cast_coil/cam_low/2026-09-17_aloha_full_cam_low.mp4" TargetMode="External"/><Relationship Id="rId6" Type="http://schemas.openxmlformats.org/officeDocument/2006/relationships/image" Target="../media/image3.jpg"/><Relationship Id="rId7" Type="http://schemas.openxmlformats.org/officeDocument/2006/relationships/hyperlink" Target="../../demos/cast_coil/cam_left_wrist/2026-09-17_aloha_full_cam_left_wrist.mp4" TargetMode="External"/><Relationship Id="rId8" Type="http://schemas.openxmlformats.org/officeDocument/2006/relationships/image" Target="../media/image4.jpg"/><Relationship Id="rId9" Type="http://schemas.openxmlformats.org/officeDocument/2006/relationships/hyperlink" Target="../../demos/cast_coil/cam_right_wrist/2026-09-17_aloha_full_cam_right_wrist.mp4" TargetMode="External"/><Relationship Id="rId10" Type="http://schemas.openxmlformats.org/officeDocument/2006/relationships/hyperlink" Target="../../demos/cast_coil/front_oblique/2026-09-17_aloha_full_front_oblique.mp4" TargetMode="External"/><Relationship Id="rId11" Type="http://schemas.openxmlformats.org/officeDocument/2006/relationships/hyperlink" Target="../develop/tasks/cast_coil_seed_generator_zh.md" TargetMode="External"/><Relationship Id="rId1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hyperlink" Target="../../demos/cast_keyhole/cam_high/2026-09-17_current_instance_physical_cam_high.mp4" TargetMode="External"/><Relationship Id="rId4" Type="http://schemas.openxmlformats.org/officeDocument/2006/relationships/image" Target="../media/image6.jpg"/><Relationship Id="rId5" Type="http://schemas.openxmlformats.org/officeDocument/2006/relationships/hyperlink" Target="../../demos/cast_keyhole/cam_low/2026-09-17_current_instance_physical_cam_low.mp4" TargetMode="External"/><Relationship Id="rId6" Type="http://schemas.openxmlformats.org/officeDocument/2006/relationships/image" Target="../media/image7.jpg"/><Relationship Id="rId7" Type="http://schemas.openxmlformats.org/officeDocument/2006/relationships/hyperlink" Target="../../demos/cast_keyhole/cam_left_wrist/2026-09-17_current_instance_physical_cam_left_wrist.mp4" TargetMode="External"/><Relationship Id="rId8" Type="http://schemas.openxmlformats.org/officeDocument/2006/relationships/image" Target="../media/image8.jpg"/><Relationship Id="rId9" Type="http://schemas.openxmlformats.org/officeDocument/2006/relationships/hyperlink" Target="../../demos/cast_keyhole/cam_right_wrist/2026-09-17_current_instance_physical_cam_right_wrist.mp4" TargetMode="External"/><Relationship Id="rId10" Type="http://schemas.openxmlformats.org/officeDocument/2006/relationships/hyperlink" Target="../../demos/cast_keyhole/detail/2026-09-17_current_instance_physical_detail.mp4" TargetMode="External"/><Relationship Id="rId11" Type="http://schemas.openxmlformats.org/officeDocument/2006/relationships/hyperlink" Target="../develop/tasks/cast_keyhole_variants_zh.md" TargetMode="External"/><Relationship Id="rId1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hyperlink" Target="../../demos/horseshoe_ring/cam_high/2026-09-18_gravity_replanned_v1_cam_high.mp4" TargetMode="External"/><Relationship Id="rId4" Type="http://schemas.openxmlformats.org/officeDocument/2006/relationships/image" Target="../media/image10.jpg"/><Relationship Id="rId5" Type="http://schemas.openxmlformats.org/officeDocument/2006/relationships/hyperlink" Target="../../demos/horseshoe_ring/cam_low/2026-09-18_gravity_replanned_v1_cam_low.mp4" TargetMode="External"/><Relationship Id="rId6" Type="http://schemas.openxmlformats.org/officeDocument/2006/relationships/image" Target="../media/image11.jpg"/><Relationship Id="rId7" Type="http://schemas.openxmlformats.org/officeDocument/2006/relationships/hyperlink" Target="../../demos/horseshoe_ring/cam_left_wrist/2026-09-18_gravity_replanned_v1_cam_left_wrist.mp4" TargetMode="External"/><Relationship Id="rId8" Type="http://schemas.openxmlformats.org/officeDocument/2006/relationships/image" Target="../media/image12.jpg"/><Relationship Id="rId9" Type="http://schemas.openxmlformats.org/officeDocument/2006/relationships/hyperlink" Target="../../demos/horseshoe_ring/cam_right_wrist/2026-09-18_gravity_replanned_v1_cam_right_wrist.mp4" TargetMode="External"/><Relationship Id="rId10" Type="http://schemas.openxmlformats.org/officeDocument/2006/relationships/hyperlink" Target="../../demos/horseshoe_ring/detail/2026-09-18_gravity_replanned_v1_detail.mp4" TargetMode="External"/><Relationship Id="rId11" Type="http://schemas.openxmlformats.org/officeDocument/2006/relationships/hyperlink" Target="../develop/tasks/horseshoe_ring_variant_generator_zh.md" TargetMode="External"/><Relationship Id="rId1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hyperlink" Target="../../demos/hedgehog_in_cage/agentview/2026-09-19_fixed_side_window_v2_agentview.mp4" TargetMode="External"/><Relationship Id="rId4" Type="http://schemas.openxmlformats.org/officeDocument/2006/relationships/image" Target="../media/image14.jpg"/><Relationship Id="rId5" Type="http://schemas.openxmlformats.org/officeDocument/2006/relationships/hyperlink" Target="../../demos/hedgehog_in_cage/front_oblique/2026-09-19_fixed_side_window_v2_front_oblique.mp4" TargetMode="External"/><Relationship Id="rId6" Type="http://schemas.openxmlformats.org/officeDocument/2006/relationships/image" Target="../media/image15.jpg"/><Relationship Id="rId7" Type="http://schemas.openxmlformats.org/officeDocument/2006/relationships/hyperlink" Target="../../demos/hedgehog_in_cage/wrist/2026-09-19_fixed_side_window_v2_wrist.mp4" TargetMode="External"/><Relationship Id="rId8" Type="http://schemas.openxmlformats.org/officeDocument/2006/relationships/hyperlink" Target="../../demos/hedgehog_in_cage/agentview/2026-09-16_classic_wood_extraction_agentview.mp4" TargetMode="External"/><Relationship Id="rId9" Type="http://schemas.openxmlformats.org/officeDocument/2006/relationships/hyperlink" Target="../../demos/hedgehog_in_cage/front_oblique/2026-09-16_classic_wood_extraction_front_oblique.mp4" TargetMode="External"/><Relationship Id="rId10" Type="http://schemas.openxmlformats.org/officeDocument/2006/relationships/hyperlink" Target="../../demos/hedgehog_in_cage/wrist/2026-09-16_classic_wood_extraction_wrist.mp4" TargetMode="External"/><Relationship Id="rId11" Type="http://schemas.openxmlformats.org/officeDocument/2006/relationships/hyperlink" Target="../../demos/hedgehog_in_cage/agentview/2026-09-17_family_a_oblique_gate_v1_agentview.mp4" TargetMode="External"/><Relationship Id="rId12" Type="http://schemas.openxmlformats.org/officeDocument/2006/relationships/hyperlink" Target="../../demos/hedgehog_in_cage/front_oblique/2026-09-17_family_a_oblique_gate_v1_front_oblique.mp4" TargetMode="External"/><Relationship Id="rId13" Type="http://schemas.openxmlformats.org/officeDocument/2006/relationships/hyperlink" Target="../../demos/hedgehog_in_cage/wrist/2026-09-17_family_a_oblique_gate_v1_wrist.mp4" TargetMode="External"/><Relationship Id="rId14" Type="http://schemas.openxmlformats.org/officeDocument/2006/relationships/hyperlink" Target="../../demos/hedgehog_in_cage/agentview/2026-09-19_gen_keyhole_v2_agentview.mp4" TargetMode="External"/><Relationship Id="rId15" Type="http://schemas.openxmlformats.org/officeDocument/2006/relationships/hyperlink" Target="../../demos/hedgehog_in_cage/front_oblique/2026-09-19_gen_keyhole_v2_front_oblique.mp4" TargetMode="External"/><Relationship Id="rId16" Type="http://schemas.openxmlformats.org/officeDocument/2006/relationships/hyperlink" Target="../../demos/hedgehog_in_cage/wrist/2026-09-19_gen_keyhole_v2_wrist.mp4" TargetMode="External"/><Relationship Id="rId17" Type="http://schemas.openxmlformats.org/officeDocument/2006/relationships/hyperlink" Target="../develop/tasks/hedgehog_in_cage_zh.md" TargetMode="External"/><Relationship Id="rId18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hyperlink" Target="../../demos/lock_picking/agentview/2026-09-18_standard_150mm_purple_trace_v1_agentview.mp4" TargetMode="External"/><Relationship Id="rId4" Type="http://schemas.openxmlformats.org/officeDocument/2006/relationships/image" Target="../media/image17.jpg"/><Relationship Id="rId5" Type="http://schemas.openxmlformats.org/officeDocument/2006/relationships/hyperlink" Target="../../demos/lock_picking/front_oblique/2026-09-18_standard_150mm_purple_trace_v1_front_oblique.mp4" TargetMode="External"/><Relationship Id="rId6" Type="http://schemas.openxmlformats.org/officeDocument/2006/relationships/image" Target="../media/image18.jpg"/><Relationship Id="rId7" Type="http://schemas.openxmlformats.org/officeDocument/2006/relationships/hyperlink" Target="../../demos/lock_picking/wrist/2026-09-18_standard_150mm_purple_trace_v1_wrist.mp4" TargetMode="External"/><Relationship Id="rId8" Type="http://schemas.openxmlformats.org/officeDocument/2006/relationships/hyperlink" Target="../develop/tasks/lock_picking_seed_generator_zh.md" TargetMode="External"/><Relationship Id="rId9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hyperlink" Target="../../demos/fiber_bundling/agentview/2026-09-18_standard_08_r13p5mm_clean_v1_agentview.mp4" TargetMode="External"/><Relationship Id="rId4" Type="http://schemas.openxmlformats.org/officeDocument/2006/relationships/image" Target="../media/image20.jpg"/><Relationship Id="rId5" Type="http://schemas.openxmlformats.org/officeDocument/2006/relationships/hyperlink" Target="../../demos/fiber_bundling/front_oblique/2026-09-18_standard_08_r13p5mm_clean_v1_front_oblique.mp4" TargetMode="External"/><Relationship Id="rId6" Type="http://schemas.openxmlformats.org/officeDocument/2006/relationships/image" Target="../media/image21.jpg"/><Relationship Id="rId7" Type="http://schemas.openxmlformats.org/officeDocument/2006/relationships/hyperlink" Target="../../demos/fiber_bundling/wrist/2026-09-18_standard_08_r13p5mm_clean_v1_wrist.mp4" TargetMode="External"/><Relationship Id="rId8" Type="http://schemas.openxmlformats.org/officeDocument/2006/relationships/hyperlink" Target="../develop/tasks/fiber_bundling_variant_pipeline_zh.md" TargetMode="External"/><Relationship Id="rId9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../../demos/interlocked_claws/cam_high/2026-09-19_orthogonal_gate_physical_v2_cam_high.mp4" TargetMode="External"/><Relationship Id="rId4" Type="http://schemas.openxmlformats.org/officeDocument/2006/relationships/image" Target="../media/image23.jpg"/><Relationship Id="rId5" Type="http://schemas.openxmlformats.org/officeDocument/2006/relationships/hyperlink" Target="../../demos/interlocked_claws/cam_low/2026-09-19_orthogonal_gate_physical_v2_cam_low.mp4" TargetMode="External"/><Relationship Id="rId6" Type="http://schemas.openxmlformats.org/officeDocument/2006/relationships/image" Target="../media/image24.jpg"/><Relationship Id="rId7" Type="http://schemas.openxmlformats.org/officeDocument/2006/relationships/hyperlink" Target="../../demos/interlocked_claws/cam_left_wrist/2026-09-19_orthogonal_gate_physical_v2_cam_left_wrist.mp4" TargetMode="External"/><Relationship Id="rId8" Type="http://schemas.openxmlformats.org/officeDocument/2006/relationships/image" Target="../media/image25.jpg"/><Relationship Id="rId9" Type="http://schemas.openxmlformats.org/officeDocument/2006/relationships/hyperlink" Target="../../demos/interlocked_claws/cam_right_wrist/2026-09-19_orthogonal_gate_physical_v2_cam_right_wrist.mp4" TargetMode="External"/><Relationship Id="rId10" Type="http://schemas.openxmlformats.org/officeDocument/2006/relationships/hyperlink" Target="../../demos/interlocked_claws/detail/2026-09-19_orthogonal_gate_physical_v2_detail.mp4" TargetMode="External"/><Relationship Id="rId11" Type="http://schemas.openxmlformats.org/officeDocument/2006/relationships/hyperlink" Target="../../demos/interlocked_claws/cam_high/2026-09-19_helical_crown_physical_v1_cam_high.mp4" TargetMode="External"/><Relationship Id="rId12" Type="http://schemas.openxmlformats.org/officeDocument/2006/relationships/hyperlink" Target="../../demos/interlocked_claws/cam_low/2026-09-19_helical_crown_physical_v1_cam_low.mp4" TargetMode="External"/><Relationship Id="rId13" Type="http://schemas.openxmlformats.org/officeDocument/2006/relationships/hyperlink" Target="../../demos/interlocked_claws/cam_left_wrist/2026-09-19_helical_crown_physical_v1_cam_left_wrist.mp4" TargetMode="External"/><Relationship Id="rId14" Type="http://schemas.openxmlformats.org/officeDocument/2006/relationships/hyperlink" Target="../../demos/interlocked_claws/cam_right_wrist/2026-09-19_helical_crown_physical_v1_cam_right_wrist.mp4" TargetMode="External"/><Relationship Id="rId15" Type="http://schemas.openxmlformats.org/officeDocument/2006/relationships/hyperlink" Target="../../demos/interlocked_claws/detail/2026-09-19_helical_crown_physical_v2_detail.mp4" TargetMode="External"/><Relationship Id="rId16" Type="http://schemas.openxmlformats.org/officeDocument/2006/relationships/hyperlink" Target="../../demos/interlocked_claws/cam_high/2026-09-17_reference_full_v1_cam_high.mp4" TargetMode="External"/><Relationship Id="rId17" Type="http://schemas.openxmlformats.org/officeDocument/2006/relationships/hyperlink" Target="../../demos/interlocked_claws/cam_low/2026-09-17_reference_full_v1_cam_low.mp4" TargetMode="External"/><Relationship Id="rId18" Type="http://schemas.openxmlformats.org/officeDocument/2006/relationships/hyperlink" Target="../../demos/interlocked_claws/cam_left_wrist/2026-09-17_reference_full_v1_cam_left_wrist.mp4" TargetMode="External"/><Relationship Id="rId19" Type="http://schemas.openxmlformats.org/officeDocument/2006/relationships/hyperlink" Target="../../demos/interlocked_claws/cam_right_wrist/2026-09-17_reference_full_v1_cam_right_wrist.mp4" TargetMode="External"/><Relationship Id="rId20" Type="http://schemas.openxmlformats.org/officeDocument/2006/relationships/hyperlink" Target="../../demos/interlocked_claws/detail/2026-09-17_reference_full_v1_detail.mp4" TargetMode="External"/><Relationship Id="rId21" Type="http://schemas.openxmlformats.org/officeDocument/2006/relationships/hyperlink" Target="../develop/tasks/interlocked_claws_authored_physics_zh.md" TargetMode="External"/><Relationship Id="rId2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hyperlink" Target="../../demos/knot_untying/cam_high/2026-09-17_bounded_spread_trefoil_v9_cam_high.mp4" TargetMode="External"/><Relationship Id="rId4" Type="http://schemas.openxmlformats.org/officeDocument/2006/relationships/image" Target="../media/image27.jpg"/><Relationship Id="rId5" Type="http://schemas.openxmlformats.org/officeDocument/2006/relationships/hyperlink" Target="../../demos/knot_untying/cam_low/2026-09-17_bounded_spread_trefoil_v9_cam_low.mp4" TargetMode="External"/><Relationship Id="rId6" Type="http://schemas.openxmlformats.org/officeDocument/2006/relationships/image" Target="../media/image28.jpg"/><Relationship Id="rId7" Type="http://schemas.openxmlformats.org/officeDocument/2006/relationships/hyperlink" Target="../../demos/knot_untying/cam_left_wrist/2026-09-17_bounded_spread_trefoil_v9_cam_left_wrist.mp4" TargetMode="External"/><Relationship Id="rId8" Type="http://schemas.openxmlformats.org/officeDocument/2006/relationships/image" Target="../media/image29.jpg"/><Relationship Id="rId9" Type="http://schemas.openxmlformats.org/officeDocument/2006/relationships/hyperlink" Target="../../demos/knot_untying/cam_right_wrist/2026-09-17_bounded_spread_trefoil_v9_cam_right_wrist.mp4" TargetMode="External"/><Relationship Id="rId10" Type="http://schemas.openxmlformats.org/officeDocument/2006/relationships/hyperlink" Target="../../demos/knot_untying/detail/2026-09-17_bounded_spread_trefoil_v9_detail.mp4" TargetMode="External"/><Relationship Id="rId11" Type="http://schemas.openxmlformats.org/officeDocument/2006/relationships/hyperlink" Target="../develop/tasks/knot_untying_family_space_zh.md" TargetMode="External"/><Relationship Id="rId1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hyperlink" Target="../../runs/environment-solvability/buzz_wire_3d/family_solvability_20260919/F3_render_03/agentview.mp4" TargetMode="External"/><Relationship Id="rId4" Type="http://schemas.openxmlformats.org/officeDocument/2006/relationships/image" Target="../media/image31.jpg"/><Relationship Id="rId5" Type="http://schemas.openxmlformats.org/officeDocument/2006/relationships/hyperlink" Target="../../runs/environment-solvability/buzz_wire_3d/family_solvability_20260919/F3_render_03/front_oblique.mp4" TargetMode="External"/><Relationship Id="rId6" Type="http://schemas.openxmlformats.org/officeDocument/2006/relationships/image" Target="../media/image32.jpg"/><Relationship Id="rId7" Type="http://schemas.openxmlformats.org/officeDocument/2006/relationships/hyperlink" Target="../../runs/environment-solvability/buzz_wire_3d/family_solvability_20260919/F3_render_03/wrist.mp4" TargetMode="External"/><Relationship Id="rId8" Type="http://schemas.openxmlformats.org/officeDocument/2006/relationships/hyperlink" Target="../../demos/buzz_wire_3d/agentview/2026-09-18_compact_single_arm_v1_agentview.mp4" TargetMode="External"/><Relationship Id="rId9" Type="http://schemas.openxmlformats.org/officeDocument/2006/relationships/hyperlink" Target="../../demos/buzz_wire_3d/front_oblique/2026-09-18_compact_single_arm_v1_front_oblique.mp4" TargetMode="External"/><Relationship Id="rId10" Type="http://schemas.openxmlformats.org/officeDocument/2006/relationships/hyperlink" Target="../../demos/buzz_wire_3d/wrist/2026-09-18_compact_single_arm_v1_wrist.mp4" TargetMode="External"/><Relationship Id="rId11" Type="http://schemas.openxmlformats.org/officeDocument/2006/relationships/hyperlink" Target="../../runs/environment-solvability/buzz_wire_3d/family_solvability_20260919/result.md" TargetMode="External"/><Relationship Id="rId1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hyperlink" Target="../../runs/environment-solvability/rope_threading/physics_soft50_damped20_compressible_fine_v13/robot_prefix_attempt_2/cam_high.mp4" TargetMode="External"/><Relationship Id="rId4" Type="http://schemas.openxmlformats.org/officeDocument/2006/relationships/image" Target="../media/image34.jpg"/><Relationship Id="rId5" Type="http://schemas.openxmlformats.org/officeDocument/2006/relationships/hyperlink" Target="../../runs/environment-solvability/rope_threading/physics_soft50_damped20_compressible_fine_v13/robot_prefix_attempt_2/cam_low.mp4" TargetMode="External"/><Relationship Id="rId6" Type="http://schemas.openxmlformats.org/officeDocument/2006/relationships/image" Target="../media/image35.jpg"/><Relationship Id="rId7" Type="http://schemas.openxmlformats.org/officeDocument/2006/relationships/hyperlink" Target="../../runs/environment-solvability/rope_threading/physics_soft50_damped20_compressible_fine_v13/robot_prefix_attempt_2/cam_left_wrist.mp4" TargetMode="External"/><Relationship Id="rId8" Type="http://schemas.openxmlformats.org/officeDocument/2006/relationships/image" Target="../media/image36.jpg"/><Relationship Id="rId9" Type="http://schemas.openxmlformats.org/officeDocument/2006/relationships/hyperlink" Target="../../runs/environment-solvability/rope_threading/physics_soft50_damped20_compressible_fine_v13/robot_prefix_attempt_2/cam_right_wrist.mp4" TargetMode="External"/><Relationship Id="rId10" Type="http://schemas.openxmlformats.org/officeDocument/2006/relationships/hyperlink" Target="../../runs/environment-solvability/rope_threading/physics_soft50_damped20_compressible_fine_v13/robot_prefix_attempt_2/detail.mp4" TargetMode="External"/><Relationship Id="rId11" Type="http://schemas.openxmlformats.org/officeDocument/2006/relationships/hyperlink" Target="../develop/tasks/rope_threading_zh.md" TargetMode="External"/><Relationship Id="rId1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hyperlink" Target="../../runs/environment_bootstrap/blanket_flatten/gathered_robot_v10/render/agentview.mp4" TargetMode="External"/><Relationship Id="rId4" Type="http://schemas.openxmlformats.org/officeDocument/2006/relationships/image" Target="../media/image38.jpg"/><Relationship Id="rId5" Type="http://schemas.openxmlformats.org/officeDocument/2006/relationships/hyperlink" Target="../../runs/environment_bootstrap/blanket_flatten/gathered_robot_v10/render/front_oblique.mp4" TargetMode="External"/><Relationship Id="rId6" Type="http://schemas.openxmlformats.org/officeDocument/2006/relationships/image" Target="../media/image39.jpg"/><Relationship Id="rId7" Type="http://schemas.openxmlformats.org/officeDocument/2006/relationships/hyperlink" Target="../../runs/environment_bootstrap/blanket_flatten/gathered_robot_v10/render/wrist.mp4" TargetMode="External"/><Relationship Id="rId8" Type="http://schemas.openxmlformats.org/officeDocument/2006/relationships/hyperlink" Target="../../runs/environment_bootstrap/blanket_flatten/gathered_robot_v8/render/agentview.mp4" TargetMode="External"/><Relationship Id="rId9" Type="http://schemas.openxmlformats.org/officeDocument/2006/relationships/hyperlink" Target="../../runs/environment_bootstrap/blanket_flatten/gathered_robot_v8/render/front_oblique.mp4" TargetMode="External"/><Relationship Id="rId10" Type="http://schemas.openxmlformats.org/officeDocument/2006/relationships/hyperlink" Target="../../runs/environment_bootstrap/blanket_flatten/gathered_robot_v8/render/wrist.mp4" TargetMode="External"/><Relationship Id="rId11" Type="http://schemas.openxmlformats.org/officeDocument/2006/relationships/hyperlink" Target="../../demos/blanket_flatten/agentview/2026-09-18_single_arm_clear_home_v1_agentview.mp4" TargetMode="External"/><Relationship Id="rId12" Type="http://schemas.openxmlformats.org/officeDocument/2006/relationships/hyperlink" Target="../../demos/blanket_flatten/front_oblique/2026-09-18_single_arm_clear_home_v1_front_oblique.mp4" TargetMode="External"/><Relationship Id="rId13" Type="http://schemas.openxmlformats.org/officeDocument/2006/relationships/hyperlink" Target="../../demos/blanket_flatten/wrist/2026-09-18_single_arm_clear_home_v1_wrist.mp4" TargetMode="External"/><Relationship Id="rId14" Type="http://schemas.openxmlformats.org/officeDocument/2006/relationships/hyperlink" Target="../../runs/environment_bootstrap/blanket_flatten/gathered_robot_study/result.md" TargetMode="External"/><Relationship Id="rId1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reports/weekly/2026-09-19/weekly-report.md" TargetMode="Externa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E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274320"/>
            <a:ext cx="73152" cy="18288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1060704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77CDB8"/>
                </a:solidFill>
                <a:latin typeface="Noto Sans CJK SC"/>
                <a:ea typeface="Noto Sans CJK SC"/>
                <a:cs typeface="Noto Sans CJK SC"/>
              </a:rPr>
              <a:t>WEEKLY RESEARCH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640080"/>
            <a:ext cx="11292840" cy="5394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TopoGym 研究周报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6510528"/>
            <a:ext cx="11292840" cy="7315"/>
          </a:xfrm>
          <a:prstGeom prst="rect">
            <a:avLst/>
          </a:prstGeom>
          <a:solidFill>
            <a:srgbClr val="334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583680"/>
            <a:ext cx="9784080" cy="1737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A0AFC2"/>
                </a:solidFill>
                <a:latin typeface="Noto Sans CJK SC"/>
                <a:ea typeface="Noto Sans CJK SC"/>
                <a:cs typeface="Noto Sans CJK SC"/>
              </a:rPr>
              <a:t>TopoGym  /  2026.09.19  /  冻结周报快照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56248"/>
            <a:ext cx="694944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335024"/>
            <a:ext cx="10607040" cy="49377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从可运行场景，走向可验证的变体数据集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" y="1929384"/>
            <a:ext cx="10607040" cy="30175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B9C6D6"/>
                </a:solidFill>
                <a:latin typeface="Noto Sans CJK SC"/>
                <a:ea typeface="Noto Sans CJK SC"/>
                <a:cs typeface="Noto Sans CJK SC"/>
              </a:rPr>
              <a:t>工程进展 18:27 CDT  ·  Agent 记录 18:24:55 CDT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" y="2816352"/>
            <a:ext cx="3675887" cy="1874519"/>
          </a:xfrm>
          <a:prstGeom prst="roundRect">
            <a:avLst>
              <a:gd name="adj" fmla="val 9000"/>
            </a:avLst>
          </a:prstGeom>
          <a:solidFill>
            <a:srgbClr val="1B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2953512"/>
            <a:ext cx="914400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77CDB8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3529584"/>
            <a:ext cx="3255264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11 项任务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" y="4050791"/>
            <a:ext cx="3255264" cy="51206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B9C6D6"/>
                </a:solidFill>
                <a:latin typeface="Noto Sans CJK SC"/>
                <a:ea typeface="Noto Sans CJK SC"/>
                <a:cs typeface="Noto Sans CJK SC"/>
              </a:rPr>
              <a:t>场景、物理 demo、随机生成与逐例验收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2816352"/>
            <a:ext cx="3675887" cy="1874519"/>
          </a:xfrm>
          <a:prstGeom prst="roundRect">
            <a:avLst>
              <a:gd name="adj" fmla="val 9000"/>
            </a:avLst>
          </a:prstGeom>
          <a:solidFill>
            <a:srgbClr val="1B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2953512"/>
            <a:ext cx="914400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77CDB8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529584"/>
            <a:ext cx="3255264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GPT-6 Astra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4050791"/>
            <a:ext cx="3255264" cy="51206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B9C6D6"/>
                </a:solidFill>
                <a:latin typeface="Noto Sans CJK SC"/>
                <a:ea typeface="Noto Sans CJK SC"/>
                <a:cs typeface="Noto Sans CJK SC"/>
              </a:rPr>
              <a:t>2M 目标预算下的尝试、结果与计量核对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0728" y="2816352"/>
            <a:ext cx="3675887" cy="1874519"/>
          </a:xfrm>
          <a:prstGeom prst="roundRect">
            <a:avLst>
              <a:gd name="adj" fmla="val 9000"/>
            </a:avLst>
          </a:prstGeom>
          <a:solidFill>
            <a:srgbClr val="1B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1896" y="2953512"/>
            <a:ext cx="914400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77CDB8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3529584"/>
            <a:ext cx="3255264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Reviewer 问题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4050791"/>
            <a:ext cx="3255264" cy="51206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B9C6D6"/>
                </a:solidFill>
                <a:latin typeface="Noto Sans CJK SC"/>
                <a:ea typeface="Noto Sans CJK SC"/>
                <a:cs typeface="Noto Sans CJK SC"/>
              </a:rPr>
              <a:t>可解性证据与直接 session 测试方法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157216"/>
            <a:ext cx="137160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7CDB8"/>
                </a:solidFill>
                <a:latin typeface="Noto Sans CJK SC"/>
                <a:ea typeface="Noto Sans CJK SC"/>
                <a:cs typeface="Noto Sans CJK SC"/>
              </a:rPr>
              <a:t>核心结论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532120"/>
            <a:ext cx="11064240" cy="51206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生成器已有明显进展；逐变体物理资格与严格 2M 评测仍需补齐。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274320"/>
            <a:ext cx="73152" cy="18288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1060704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01 / 任务进展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640080"/>
            <a:ext cx="11292840" cy="5394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11 项任务：四阶段进展总览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25296"/>
            <a:ext cx="112014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按明确实例与协议范围标记；色块不表示工时百分比或模型成功率。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10528"/>
            <a:ext cx="11292840" cy="7315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83680"/>
            <a:ext cx="9784080" cy="1737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TopoGym  /  2026.09.19  /  冻结周报快照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56248"/>
            <a:ext cx="694944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22191" y="1764792"/>
            <a:ext cx="1892807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① 场景生成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5584" y="1764792"/>
            <a:ext cx="1892807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② 物理＋完整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08975" y="1764792"/>
            <a:ext cx="1892807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③ 随机生成接口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02368" y="1764792"/>
            <a:ext cx="1892807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④ 逐变体稳定可解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2272284"/>
            <a:ext cx="3319272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Cast Coil 卷绕件装配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22191" y="2267712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58768" y="2290572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15584" y="2267712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2290572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08975" y="2267712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45551" y="2290572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02368" y="2267712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FF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38944" y="2290572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部分 / 验证中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2583179"/>
            <a:ext cx="3319272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Cast Keyhole 钥匙孔拆解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22191" y="2578608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58768" y="2601468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15584" y="2578608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160" y="2601468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08975" y="2578608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45551" y="2601468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02368" y="2578608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FF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38944" y="2601468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部分 / 验证中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" y="2894076"/>
            <a:ext cx="3319272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Horseshoe Ring 马蹄环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22191" y="2889504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58768" y="2912364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15584" y="2889504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52160" y="2912364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08975" y="2889504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45551" y="2912364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802368" y="2889504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FF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38944" y="2912364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部分 / 验证中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" y="3204972"/>
            <a:ext cx="3319272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Hedgehog in Cage 刺球出笼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22191" y="3200400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58768" y="3223260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815584" y="3200400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52160" y="3223260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808975" y="3200400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45551" y="3223260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802368" y="3200400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FF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838944" y="3223260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部分 / 验证中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4632" y="3515868"/>
            <a:ext cx="3319272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Lock Picking 开锁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822191" y="3511296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58768" y="3534156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815584" y="3511296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52160" y="3534156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808975" y="3511296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45551" y="3534156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802368" y="3511296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7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38944" y="3534156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未开始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4632" y="3826763"/>
            <a:ext cx="3319272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Fiber Bundling 光纤收束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822191" y="3822191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58768" y="3845052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815584" y="3822191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FF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852160" y="3845052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部分 / 验证中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808975" y="3822191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845551" y="3845052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802368" y="3822191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FF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838944" y="3845052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部分 / 验证中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4632" y="4137659"/>
            <a:ext cx="3319272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Interlocked Claws 互锁爪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822191" y="4133087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858768" y="4155948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815584" y="4133087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852160" y="4155948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808975" y="4133087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FF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845551" y="4155948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部分 / 验证中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802368" y="4133087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FF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838944" y="4155948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部分 / 验证中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4632" y="4448556"/>
            <a:ext cx="3319272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Knot Untying 解绳结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822191" y="4443984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858768" y="4466844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815584" y="4443984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FF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852160" y="4466844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部分 / 验证中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808975" y="4443984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FF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845551" y="4466844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部分 / 验证中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802368" y="4443984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FF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838944" y="4466844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部分 / 验证中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84632" y="4759452"/>
            <a:ext cx="3319272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Buzz Wire 3D 立体电流棒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822191" y="4754880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858768" y="4777740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815584" y="4754880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852160" y="4777740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808975" y="4754880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FF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845551" y="4777740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部分 / 验证中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9802368" y="4754880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FF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838944" y="4777740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部分 / 验证中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84632" y="5070348"/>
            <a:ext cx="3319272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Rope Threading 绳穿三环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3822191" y="5065776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858768" y="5088636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5815584" y="5065776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FF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852160" y="5088636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部分 / 验证中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7808975" y="5065776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7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845551" y="5088636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未开始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9802368" y="5065776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7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838944" y="5088636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未开始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84632" y="5381244"/>
            <a:ext cx="3319272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Blanket Flatten 被子展平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3822191" y="5376672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858768" y="5399532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已达当前范围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5815584" y="5376672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FF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852160" y="5399532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部分 / 验证中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7808975" y="5376672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7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845551" y="5399532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未开始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9802368" y="5376672"/>
            <a:ext cx="1874519" cy="265176"/>
          </a:xfrm>
          <a:prstGeom prst="roundRect">
            <a:avLst>
              <a:gd name="adj" fmla="val 9000"/>
            </a:avLst>
          </a:prstGeom>
          <a:solidFill>
            <a:srgbClr val="E7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838944" y="5399532"/>
            <a:ext cx="1801368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未开始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84632" y="5925312"/>
            <a:ext cx="11064240" cy="37490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1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注：Claws 的物理通过对应 B0/C0；Blanket 按当前麻花初态计。所有任务均未完成全量变体验收。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274320"/>
            <a:ext cx="73152" cy="18288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1060704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01 / 任务进展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640080"/>
            <a:ext cx="11292840" cy="5394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Cast Coil｜卷绕件装配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25296"/>
            <a:ext cx="112014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固定三家族 + 条件微调已接入 seed；随机动力学验收尚未闭环。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10528"/>
            <a:ext cx="11292840" cy="7315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83680"/>
            <a:ext cx="9784080" cy="1737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TopoGym  /  2026.09.19  /  冻结周报快照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56248"/>
            <a:ext cx="694944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oil_base_cam_high.jp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792" y="1796795"/>
            <a:ext cx="2600959" cy="14630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6344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3"/>
              </a:rPr>
              <a:t>▶ 高位  ·  t=18.2s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50791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oil_base_cam_low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8528" y="1796795"/>
            <a:ext cx="2600959" cy="14630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69079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5"/>
              </a:rPr>
              <a:t>▶ 低位  ·  t=18.2s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oil_base_cam_left_wrist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792" y="3653027"/>
            <a:ext cx="2600959" cy="14630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66344" y="5170931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7"/>
              </a:rPr>
              <a:t>▶ 左腕  ·  t=18.2s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50791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oil_base_cam_right_wrist.jpg">
            <a:hlinkClick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78528" y="3653027"/>
            <a:ext cx="2600959" cy="146303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069079" y="5170931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9"/>
              </a:rPr>
              <a:t>▶ 右腕  ·  t=18.2s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62672" y="1773936"/>
            <a:ext cx="4078224" cy="12527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62672" y="1773936"/>
            <a:ext cx="41148" cy="1252728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36408" y="1883664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本周已完成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36408" y="2212848"/>
            <a:ext cx="3666744" cy="7772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384 个不同配置可复现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48/48 几何；12/12 双臂规划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62672" y="316382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62672" y="3163824"/>
            <a:ext cx="41148" cy="1280160"/>
          </a:xfrm>
          <a:prstGeom prst="rect">
            <a:avLst/>
          </a:prstGeom>
          <a:solidFill>
            <a:srgbClr val="A56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36408" y="327355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当前边界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36408" y="360273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六次代表执行均完成装配释放，严格归档仅 4/6 通过。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62672" y="458114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62672" y="4581144"/>
            <a:ext cx="41148" cy="128016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36408" y="469087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下一步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36408" y="502005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保留 A/C 的微米级接触失败；对随机实例增加物理验收。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" y="1581912"/>
            <a:ext cx="7059168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9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基础版 33.15 s｜预抓取＋接触辅助；装配、放置、释放、静置。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" y="5486400"/>
            <a:ext cx="23134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基础装配 · 五路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52344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3"/>
              </a:rPr>
              <a:t>高位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47872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5"/>
              </a:rPr>
              <a:t>低位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43400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7"/>
              </a:rPr>
              <a:t>左腕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38928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9"/>
              </a:rPr>
              <a:t>右腕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34456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0"/>
              </a:rPr>
              <a:t>斜前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6062472"/>
            <a:ext cx="3200400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8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1"/>
              </a:rPr>
              <a:t>验证记录 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274320"/>
            <a:ext cx="73152" cy="18288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1060704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01 / 任务进展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640080"/>
            <a:ext cx="11292840" cy="5394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Cast Keyhole｜钥匙孔拆解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25296"/>
            <a:ext cx="112014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F1 长行程穿齿、F2 偏心绕行、F3 转向后回退；三族各三种外形。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10528"/>
            <a:ext cx="11292840" cy="7315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83680"/>
            <a:ext cx="9784080" cy="1737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TopoGym  /  2026.09.19  /  冻结周报快照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56248"/>
            <a:ext cx="694944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keyhole_base_cam_high.jp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792" y="1796795"/>
            <a:ext cx="2600960" cy="1463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6344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3"/>
              </a:rPr>
              <a:t>▶ 高位  ·  t=11.5s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50791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keyhole_base_cam_low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8528" y="1796795"/>
            <a:ext cx="2600960" cy="1463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69079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5"/>
              </a:rPr>
              <a:t>▶ 低位  ·  t=11.5s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keyhole_base_cam_left_wrist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792" y="3653027"/>
            <a:ext cx="2600960" cy="14630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66344" y="5170931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7"/>
              </a:rPr>
              <a:t>▶ 左腕  ·  t=11.5s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50791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keyhole_base_cam_right_wrist.jpg">
            <a:hlinkClick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78528" y="3653027"/>
            <a:ext cx="2600960" cy="14630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069079" y="5170931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9"/>
              </a:rPr>
              <a:t>▶ 右腕  ·  t=11.5s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62672" y="1773936"/>
            <a:ext cx="4078224" cy="12527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62672" y="1773936"/>
            <a:ext cx="41148" cy="1252728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36408" y="1883664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本周已完成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36408" y="2212848"/>
            <a:ext cx="3666744" cy="7772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256 seed 复现；200 次实体/边界检查；3 实例 × 2 步长通过。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62672" y="316382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62672" y="3163824"/>
            <a:ext cx="41148" cy="1280160"/>
          </a:xfrm>
          <a:prstGeom prst="rect">
            <a:avLst/>
          </a:prstGeom>
          <a:solidFill>
            <a:srgbClr val="A56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36408" y="327355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当前边界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36408" y="360273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物理资格止于预抓取、辅助拆解后持稳；不含放桌松手。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62672" y="458114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62672" y="4581144"/>
            <a:ext cx="41148" cy="128016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36408" y="469087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下一步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36408" y="502005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每个新实例独立验收；生成端与 agent 终态协议继续对齐。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" y="1581912"/>
            <a:ext cx="7059168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9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基础版 23.92 s｜完整分离后双手仍保持抓持；实测状态重渲染。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" y="5486400"/>
            <a:ext cx="23134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基础拆解 · 五路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52344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3"/>
              </a:rPr>
              <a:t>高位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47872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5"/>
              </a:rPr>
              <a:t>低位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43400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7"/>
              </a:rPr>
              <a:t>左腕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38928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9"/>
              </a:rPr>
              <a:t>右腕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34456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0"/>
              </a:rPr>
              <a:t>近景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6062472"/>
            <a:ext cx="3200400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8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1"/>
              </a:rPr>
              <a:t>验证记录 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274320"/>
            <a:ext cx="73152" cy="18288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1060704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01 / 任务进展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640080"/>
            <a:ext cx="11292840" cy="5394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Horseshoe Ring｜马蹄环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25296"/>
            <a:ext cx="112014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高位 / 外侧 / 后撤接近形成三族；路线差异约 20–22 cm。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10528"/>
            <a:ext cx="11292840" cy="7315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83680"/>
            <a:ext cx="9784080" cy="1737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TopoGym  /  2026.09.19  /  冻结周报快照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56248"/>
            <a:ext cx="694944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horseshoe_base_cam_high.jp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792" y="1796795"/>
            <a:ext cx="2600959" cy="14630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6344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3"/>
              </a:rPr>
              <a:t>▶ 高位  ·  t=56.9s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50791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horseshoe_base_cam_low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8528" y="1796795"/>
            <a:ext cx="2600959" cy="14630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69079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5"/>
              </a:rPr>
              <a:t>▶ 低位  ·  t=56.9s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horseshoe_base_cam_left_wrist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792" y="3653027"/>
            <a:ext cx="2600959" cy="14630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66344" y="5170931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7"/>
              </a:rPr>
              <a:t>▶ 左腕  ·  t=56.9s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50791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horseshoe_base_cam_right_wrist.jpg">
            <a:hlinkClick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78528" y="3653027"/>
            <a:ext cx="2600959" cy="146303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069079" y="5170931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9"/>
              </a:rPr>
              <a:t>▶ 右腕  ·  t=56.9s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62672" y="1773936"/>
            <a:ext cx="4078224" cy="12527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62672" y="1773936"/>
            <a:ext cx="41148" cy="1252728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36408" y="1883664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本周已完成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36408" y="2212848"/>
            <a:ext cx="3666744" cy="7772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256 seed 参数检查；48 项初态/折合 IK；逐实例验收入口已接通。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62672" y="316382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62672" y="3163824"/>
            <a:ext cx="41148" cy="1280160"/>
          </a:xfrm>
          <a:prstGeom prst="rect">
            <a:avLst/>
          </a:prstGeom>
          <a:solidFill>
            <a:srgbClr val="A56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36408" y="327355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当前边界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36408" y="360273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新族只完成 2 ms 验收，未做 1 ms 复验；不能继承基础版资格。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62672" y="458114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62672" y="4581144"/>
            <a:ext cx="41148" cy="128016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36408" y="469087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下一步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36408" y="502005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最终条件域放行 3 个实例；补齐新族半步长和稳定性验收。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" y="1581912"/>
            <a:ext cx="7059168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9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基础版 113.70 s｜辅助抓持、交接、取环与自由落桌；2/1 ms 复验通过。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" y="5486400"/>
            <a:ext cx="23134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重力基础版 · 五路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52344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3"/>
              </a:rPr>
              <a:t>高位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47872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5"/>
              </a:rPr>
              <a:t>低位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43400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7"/>
              </a:rPr>
              <a:t>左腕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38928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9"/>
              </a:rPr>
              <a:t>右腕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34456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0"/>
              </a:rPr>
              <a:t>近景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6062472"/>
            <a:ext cx="3200400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8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1"/>
              </a:rPr>
              <a:t>验证记录 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274320"/>
            <a:ext cx="73152" cy="18288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1060704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01 / 任务进展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640080"/>
            <a:ext cx="11292840" cy="5394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Hedgehog in Cage｜刺球出笼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25296"/>
            <a:ext cx="112014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当前默认池：单斜窗、固定六刺侧孔、GEN 顶部钥匙孔。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10528"/>
            <a:ext cx="11292840" cy="7315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83680"/>
            <a:ext cx="9784080" cy="1737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TopoGym  /  2026.09.19  /  冻结周报快照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56248"/>
            <a:ext cx="694944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hedgehog_side_agentview.jp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912" y="1796795"/>
            <a:ext cx="1950720" cy="1463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6344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3"/>
              </a:rPr>
              <a:t>▶ 全景  ·  t=41.1s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50791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hedgehog_side_front_oblique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3648" y="1796795"/>
            <a:ext cx="1950720" cy="1463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69079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5"/>
              </a:rPr>
              <a:t>▶ 斜前  ·  t=41.1s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hedgehog_side_wrist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0912" y="3653027"/>
            <a:ext cx="1950720" cy="14630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66344" y="5170931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7"/>
              </a:rPr>
              <a:t>▶ 腕部  ·  t=41.1s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50791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42816" y="3767328"/>
            <a:ext cx="2971800" cy="37490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42816" y="4215384"/>
            <a:ext cx="297180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当前家族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4553712"/>
            <a:ext cx="1554480" cy="38404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1000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24144" y="4636008"/>
            <a:ext cx="1572768" cy="3108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seed 家族抽样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62672" y="1773936"/>
            <a:ext cx="4078224" cy="12527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62672" y="1773936"/>
            <a:ext cx="41148" cy="1252728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36408" y="1883664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本周已完成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2212848"/>
            <a:ext cx="3666744" cy="7772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两种新原型完整取出/释放，两档子步通过；13 实例预检通过。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62672" y="316382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62672" y="3163824"/>
            <a:ext cx="41148" cy="1280160"/>
          </a:xfrm>
          <a:prstGeom prst="rect">
            <a:avLst/>
          </a:prstGeom>
          <a:solidFill>
            <a:srgbClr val="A56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36408" y="327355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当前边界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36408" y="360273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随机后代尚未物理执行。侧孔与 CLASSIC 共享侧向取出策略。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62672" y="458114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662672" y="4581144"/>
            <a:ext cx="41148" cy="128016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36408" y="469087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下一步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36408" y="502005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沿用 v2 seed 与重载接口，逐例补动力学；不混入 v3 几何预演。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" y="1581912"/>
            <a:ext cx="7059168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9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侧孔 v2 · 82.25 s｜预抓取＋接触辅助；取出、落桌、释放、静置。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" y="5486400"/>
            <a:ext cx="23134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CLASSIC · 基础测试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52344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8"/>
              </a:rPr>
              <a:t>全景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47872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9"/>
              </a:rPr>
              <a:t>斜前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0"/>
              </a:rPr>
              <a:t>腕部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" y="5779008"/>
            <a:ext cx="23134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单斜窗 · 当前家族 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52344" y="5779008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1"/>
              </a:rPr>
              <a:t>全景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47872" y="5779008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2"/>
              </a:rPr>
              <a:t>斜前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43400" y="5779008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3"/>
              </a:rPr>
              <a:t>腕部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" y="6071616"/>
            <a:ext cx="23134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GEN · 当前家族 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52344" y="6071616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4"/>
              </a:rPr>
              <a:t>全景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47872" y="6071616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5"/>
              </a:rPr>
              <a:t>斜前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43400" y="6071616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6"/>
              </a:rPr>
              <a:t>腕部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18120" y="6062472"/>
            <a:ext cx="3200400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8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7"/>
              </a:rPr>
              <a:t>验证记录 ↗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274320"/>
            <a:ext cx="73152" cy="18288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1060704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01 / 任务进展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640080"/>
            <a:ext cx="11292840" cy="5394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Lock Picking｜开锁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25296"/>
            <a:ext cx="112014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F1/F2/F3 必要回退 1/2/3 次：体现序列复杂度，尚无实测难度排序。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10528"/>
            <a:ext cx="11292840" cy="7315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83680"/>
            <a:ext cx="9784080" cy="1737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TopoGym  /  2026.09.19  /  冻结周报快照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56248"/>
            <a:ext cx="694944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ck_base_agentview.jp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792" y="1796795"/>
            <a:ext cx="2600960" cy="1463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6344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3"/>
              </a:rPr>
              <a:t>▶ 全景  ·  t=79.7s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50791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ock_base_front_oblique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8528" y="1796795"/>
            <a:ext cx="2600960" cy="1463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69079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5"/>
              </a:rPr>
              <a:t>▶ 斜前  ·  t=79.7s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ock_base_wrist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792" y="3653027"/>
            <a:ext cx="2600959" cy="14630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66344" y="5170931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7"/>
              </a:rPr>
              <a:t>▶ 腕部  ·  t=79.7s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50791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42816" y="3767328"/>
            <a:ext cx="2971800" cy="37490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256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42816" y="4215384"/>
            <a:ext cx="297180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几何 / IK 接受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4553712"/>
            <a:ext cx="1554480" cy="38404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99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24144" y="4636008"/>
            <a:ext cx="1572768" cy="3108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需要确定性重试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62672" y="1773936"/>
            <a:ext cx="4078224" cy="12527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62672" y="1773936"/>
            <a:ext cx="41148" cy="1252728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36408" y="1883664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本周已完成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2212848"/>
            <a:ext cx="3666744" cy="7772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256 seed 在最多 8 次尝试内通过几何/IK；九个 S/M/L 代表通过。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62672" y="316382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62672" y="3163824"/>
            <a:ext cx="41148" cy="1280160"/>
          </a:xfrm>
          <a:prstGeom prst="rect">
            <a:avLst/>
          </a:prstGeom>
          <a:solidFill>
            <a:srgbClr val="A56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36408" y="327355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当前边界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36408" y="360273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99 个 seed 需要重试；新三族完整抓起、动力学和松手未验收。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62672" y="458114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662672" y="4581144"/>
            <a:ext cx="41148" cy="128016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36408" y="469087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下一步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36408" y="502005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将已对齐的 IK 路径接到完整抓取与释放流程，再逐例验收。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" y="1581912"/>
            <a:ext cx="7059168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9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基础版 159.35 s｜成功物理状态重渲染；被动夹爪连杆按开合量重建。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" y="5486400"/>
            <a:ext cx="23134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两回退基础版 · 三路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52344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3"/>
              </a:rPr>
              <a:t>全景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47872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5"/>
              </a:rPr>
              <a:t>斜前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7"/>
              </a:rPr>
              <a:t>腕部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6062472"/>
            <a:ext cx="3200400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8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8"/>
              </a:rPr>
              <a:t>验证记录 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274320"/>
            <a:ext cx="73152" cy="18288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1060704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01 / 任务进展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640080"/>
            <a:ext cx="11292840" cy="5394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Fiber Bundling｜光纤收束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25296"/>
            <a:ext cx="112014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保留稀疏 / 标准 / 密集三类；按已确认规则，不要求三种本质不同 IK。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10528"/>
            <a:ext cx="11292840" cy="7315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83680"/>
            <a:ext cx="9784080" cy="1737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TopoGym  /  2026.09.19  /  冻结周报快照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56248"/>
            <a:ext cx="694944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ber_base_agentview.jp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888" y="1796795"/>
            <a:ext cx="2080768" cy="14630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6344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3"/>
              </a:rPr>
              <a:t>▶ 全景  ·  t=102.7s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50791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iber_base_front_oblique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8624" y="1796795"/>
            <a:ext cx="2080768" cy="14630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69079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5"/>
              </a:rPr>
              <a:t>▶ 斜前  ·  t=102.7s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fiber_base_wrist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5888" y="3653027"/>
            <a:ext cx="2080768" cy="14630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66344" y="5170931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7"/>
              </a:rPr>
              <a:t>▶ 腕部  ·  t=102.7s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50791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42816" y="3767328"/>
            <a:ext cx="2971800" cy="37490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300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42816" y="4215384"/>
            <a:ext cx="297180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不同参数实例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4553712"/>
            <a:ext cx="1554480" cy="38404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39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24144" y="4636008"/>
            <a:ext cx="1572768" cy="3108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N/R 边界组合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62672" y="1773936"/>
            <a:ext cx="4078224" cy="12527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62672" y="1773936"/>
            <a:ext cx="41148" cy="1252728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36408" y="1883664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本周已完成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2212848"/>
            <a:ext cx="3666744" cy="7772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300 seed 几何、39 边界组合通过；3 随机实例短静置通过。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62672" y="316382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62672" y="3163824"/>
            <a:ext cx="41148" cy="1280160"/>
          </a:xfrm>
          <a:prstGeom prst="rect">
            <a:avLst/>
          </a:prstGeom>
          <a:solidFill>
            <a:srgbClr val="A56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36408" y="327355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当前边界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36408" y="360273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基础 8 芯两步长均穿环成功，但严格全程线形收敛未通过。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62672" y="458114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662672" y="4581144"/>
            <a:ext cx="41148" cy="128016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36408" y="469087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下一步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36408" y="502005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按实例检查 IK、细线禁碰、完整穿环和数值稳定性。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" y="1581912"/>
            <a:ext cx="7059168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9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8 芯 / R13.5 mm · 177 s｜只抓粗护套、接触后辅助；末态保持抓持。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" y="5486400"/>
            <a:ext cx="23134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基础无 UI 视频 · 三路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52344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3"/>
              </a:rPr>
              <a:t>全景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47872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5"/>
              </a:rPr>
              <a:t>斜前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7"/>
              </a:rPr>
              <a:t>腕部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6062472"/>
            <a:ext cx="3200400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8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8"/>
              </a:rPr>
              <a:t>验证记录 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274320"/>
            <a:ext cx="73152" cy="18288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1060704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01 / 任务进展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640080"/>
            <a:ext cx="11292840" cy="5394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Interlocked Claws｜互锁爪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25296"/>
            <a:ext cx="112014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B0 螺旋冠、C0 正交双窗已形成新的完整物理执行证据。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10528"/>
            <a:ext cx="11292840" cy="7315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83680"/>
            <a:ext cx="9784080" cy="1737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TopoGym  /  2026.09.19  /  冻结周报快照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56248"/>
            <a:ext cx="694944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laws_c_cam_high.jp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912" y="1796795"/>
            <a:ext cx="1950720" cy="1463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6344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3"/>
              </a:rPr>
              <a:t>▶ 高位  ·  t=22.0s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50791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laws_c_cam_low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3648" y="1796795"/>
            <a:ext cx="1950720" cy="1463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69079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5"/>
              </a:rPr>
              <a:t>▶ 低位  ·  t=22.0s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laws_c_cam_left_wrist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0912" y="3653027"/>
            <a:ext cx="1950720" cy="14630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66344" y="5170931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7"/>
              </a:rPr>
              <a:t>▶ 左腕  ·  t=22.0s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50791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laws_c_cam_right_wrist.jpg">
            <a:hlinkClick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3648" y="3653027"/>
            <a:ext cx="1950720" cy="14630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069079" y="5170931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9"/>
              </a:rPr>
              <a:t>▶ 右腕  ·  t=22.0s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62672" y="1773936"/>
            <a:ext cx="4078224" cy="12527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62672" y="1773936"/>
            <a:ext cx="41148" cy="1252728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36408" y="1883664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本周已完成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36408" y="2212848"/>
            <a:ext cx="3666744" cy="7772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B0/C0 均完成双臂执行、放桌松手、独立静置与半步长复验。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62672" y="316382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62672" y="3163824"/>
            <a:ext cx="41148" cy="1280160"/>
          </a:xfrm>
          <a:prstGeom prst="rect">
            <a:avLst/>
          </a:prstGeom>
          <a:solidFill>
            <a:srgbClr val="A56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36408" y="327355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当前边界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36408" y="360273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新原型使用 MuJoCo；未接旧 seed API。A0 的 Genesis 接触限制仍在。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62672" y="458114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62672" y="4581144"/>
            <a:ext cx="41148" cy="128016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36408" y="469087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下一步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36408" y="502005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发布新版本生成器，重新配对实例、IK 和物理资格。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" y="1581912"/>
            <a:ext cx="7059168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9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C0 · 50.05 s｜预抓取＋理想焊接辅助；完整分离、落桌、解除抓持。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" y="5486400"/>
            <a:ext cx="23134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C0 正交双窗 · 五路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52344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3"/>
              </a:rPr>
              <a:t>高位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47872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5"/>
              </a:rPr>
              <a:t>低位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43400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7"/>
              </a:rPr>
              <a:t>左腕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38928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9"/>
              </a:rPr>
              <a:t>右腕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34456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0"/>
              </a:rPr>
              <a:t>近景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" y="5779008"/>
            <a:ext cx="23134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B0 螺旋冠 · 五路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52344" y="5779008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1"/>
              </a:rPr>
              <a:t>高位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47872" y="5779008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2"/>
              </a:rPr>
              <a:t>低位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43400" y="5779008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3"/>
              </a:rPr>
              <a:t>左腕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38928" y="5779008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4"/>
              </a:rPr>
              <a:t>右腕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34456" y="5779008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5"/>
              </a:rPr>
              <a:t>近景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056" y="6071616"/>
            <a:ext cx="23134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A0 原版 · 五路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52344" y="6071616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6"/>
              </a:rPr>
              <a:t>高位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47872" y="6071616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7"/>
              </a:rPr>
              <a:t>低位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43400" y="6071616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8"/>
              </a:rPr>
              <a:t>左腕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38928" y="6071616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9"/>
              </a:rPr>
              <a:t>右腕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34456" y="6071616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20"/>
              </a:rPr>
              <a:t>近景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18120" y="6062472"/>
            <a:ext cx="3200400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8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21"/>
              </a:rPr>
              <a:t>验证记录 ↗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274320"/>
            <a:ext cx="73152" cy="18288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1060704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01 / 任务进展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640080"/>
            <a:ext cx="11292840" cy="5394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Knot Untying｜解绳结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25296"/>
            <a:ext cx="112014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三叶结已有连续轨迹；八字结、双重单结已建模，连续执行仍在验证。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10528"/>
            <a:ext cx="11292840" cy="7315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83680"/>
            <a:ext cx="9784080" cy="1737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TopoGym  /  2026.09.19  /  冻结周报快照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56248"/>
            <a:ext cx="694944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knot_base_cam_high.jp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792" y="1796795"/>
            <a:ext cx="2600959" cy="14630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6344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3"/>
              </a:rPr>
              <a:t>▶ 高位  ·  t=37.5s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50791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knot_base_cam_low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8528" y="1796795"/>
            <a:ext cx="2600959" cy="14630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69079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5"/>
              </a:rPr>
              <a:t>▶ 低位  ·  t=37.5s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knot_base_cam_left_wrist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792" y="3653027"/>
            <a:ext cx="2600959" cy="14630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66344" y="5170931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7"/>
              </a:rPr>
              <a:t>▶ 左腕  ·  t=37.5s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50791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knot_base_cam_right_wrist.jpg">
            <a:hlinkClick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78528" y="3653027"/>
            <a:ext cx="2600959" cy="146303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069079" y="5170931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9"/>
              </a:rPr>
              <a:t>▶ 右腕  ·  t=37.5s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62672" y="1773936"/>
            <a:ext cx="4078224" cy="12527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62672" y="1773936"/>
            <a:ext cx="41148" cy="1252728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36408" y="1883664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本周已完成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36408" y="2212848"/>
            <a:ext cx="3666744" cy="7772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两种新结型各有 10 s 独立静置；18 组收窄边界首段预检通过。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62672" y="316382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62672" y="3163824"/>
            <a:ext cx="41148" cy="1280160"/>
          </a:xfrm>
          <a:prstGeom prst="rect">
            <a:avLst/>
          </a:prstGeom>
          <a:solidFill>
            <a:srgbClr val="A56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36408" y="327355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当前边界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36408" y="360273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v9 的 P3 网格收敛及通用双手交接未过；新族尚无完整成功。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62672" y="458114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62672" y="4581144"/>
            <a:ext cx="41148" cy="128016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36408" y="469087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下一步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36408" y="502005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完成独立解结路线与释放验收；easy/medium/hard 仍是目标档。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" y="1581912"/>
            <a:ext cx="7059168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9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三叶结 v9 · 75 s｜接触后辅助，连续解结、释放；完整物理套件未通过。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" y="5486400"/>
            <a:ext cx="23134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三叶结 v9 · 五路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52344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3"/>
              </a:rPr>
              <a:t>高位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47872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5"/>
              </a:rPr>
              <a:t>低位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43400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7"/>
              </a:rPr>
              <a:t>左腕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38928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9"/>
              </a:rPr>
              <a:t>右腕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34456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0"/>
              </a:rPr>
              <a:t>近景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6062472"/>
            <a:ext cx="3200400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8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1"/>
              </a:rPr>
              <a:t>验证记录 ↗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274320"/>
            <a:ext cx="73152" cy="18288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1060704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01 / 任务进展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640080"/>
            <a:ext cx="11292840" cy="5394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Buzz Wire 3D｜立体电流棒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25296"/>
            <a:ext cx="112014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F3 四关 v3 主运行通过；F2 后半程仍在搜索。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10528"/>
            <a:ext cx="11292840" cy="7315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83680"/>
            <a:ext cx="9784080" cy="1737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TopoGym  /  2026.09.19  /  冻结周报快照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56248"/>
            <a:ext cx="694944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uzz_f3_agentview.jp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912" y="1796795"/>
            <a:ext cx="1950720" cy="1463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6344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3"/>
              </a:rPr>
              <a:t>▶ 全景  ·  t=53.5s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50791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uzz_f3_front_oblique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3648" y="1796795"/>
            <a:ext cx="1950720" cy="1463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69079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5"/>
              </a:rPr>
              <a:t>▶ 斜前  ·  t=53.5s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buzz_f3_wrist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0912" y="3653027"/>
            <a:ext cx="1950720" cy="14630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66344" y="5170931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7"/>
              </a:rPr>
              <a:t>▶ 腕部  ·  t=53.5s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50791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42816" y="3767328"/>
            <a:ext cx="2971800" cy="37490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10001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42816" y="4215384"/>
            <a:ext cx="297180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密集 IK 检查点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4553712"/>
            <a:ext cx="1554480" cy="38404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106.92 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24144" y="4636008"/>
            <a:ext cx="1572768" cy="3108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主物理执行完成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62672" y="1773936"/>
            <a:ext cx="4078224" cy="12527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62672" y="1773936"/>
            <a:ext cx="41148" cy="1252728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36408" y="1883664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本周已完成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2212848"/>
            <a:ext cx="3666744" cy="7772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F3 的 10001 点密集 IK 通过；106.92 s 真实摩擦抓持主执行完成。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62672" y="316382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62672" y="3163824"/>
            <a:ext cx="41148" cy="1280160"/>
          </a:xfrm>
          <a:prstGeom prst="rect">
            <a:avLst/>
          </a:prstGeom>
          <a:solidFill>
            <a:srgbClr val="A56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36408" y="327355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当前边界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36408" y="360273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F3 独立 2 ms 复验重跑中；随机范围尚未逐实例认证。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62672" y="458114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662672" y="4581144"/>
            <a:ext cx="41148" cy="128016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36408" y="469087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下一步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36408" y="502005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完成 F3 复验与归档，继续 F2 完整路线及机器人净空检查。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" y="1581912"/>
            <a:ext cx="7059168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9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F3 成片 106.96 s｜预穿环/预抓取、纯摩擦抓持、释放滑落；实测状态重渲染。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" y="5486400"/>
            <a:ext cx="23134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F3 最新主运行 · 三路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52344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3"/>
              </a:rPr>
              <a:t>全景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47872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5"/>
              </a:rPr>
              <a:t>斜前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7"/>
              </a:rPr>
              <a:t>腕部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" y="5779008"/>
            <a:ext cx="23134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紧凑基础版 · 三路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52344" y="5779008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8"/>
              </a:rPr>
              <a:t>全景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47872" y="5779008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9"/>
              </a:rPr>
              <a:t>斜前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43400" y="5779008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0"/>
              </a:rPr>
              <a:t>腕部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18120" y="6062472"/>
            <a:ext cx="3200400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8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1"/>
              </a:rPr>
              <a:t>验证记录 ↗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274320"/>
            <a:ext cx="73152" cy="18288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1060704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01 / 任务进展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640080"/>
            <a:ext cx="11292840" cy="5394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Rope Threading｜绳穿三环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25296"/>
            <a:ext cx="112014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最新可播放录像是局部前段；三环完整参考执行仍在进行。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10528"/>
            <a:ext cx="11292840" cy="7315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83680"/>
            <a:ext cx="9784080" cy="1737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TopoGym  /  2026.09.19  /  冻结周报快照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56248"/>
            <a:ext cx="694944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ope_prefix_cam_high.jp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792" y="1796795"/>
            <a:ext cx="2600959" cy="14630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6344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3"/>
              </a:rPr>
              <a:t>▶ 高位  ·  t=7.6s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50791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rope_prefix_cam_low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8528" y="1796795"/>
            <a:ext cx="2600959" cy="14630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69079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5"/>
              </a:rPr>
              <a:t>▶ 低位  ·  t=7.6s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rope_prefix_cam_left_wrist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792" y="3653027"/>
            <a:ext cx="2600959" cy="14630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66344" y="5170931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7"/>
              </a:rPr>
              <a:t>▶ 左腕  ·  t=7.6s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50791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rope_prefix_cam_right_wrist.jpg">
            <a:hlinkClick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78528" y="3653027"/>
            <a:ext cx="2600959" cy="146303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069079" y="5170931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9"/>
              </a:rPr>
              <a:t>▶ 右腕  ·  t=7.6s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62672" y="1773936"/>
            <a:ext cx="4078224" cy="12527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62672" y="1773936"/>
            <a:ext cx="41148" cy="1252728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36408" y="1883664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本周已完成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36408" y="2212848"/>
            <a:ext cx="3666744" cy="7772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抓取、抬升、释放与静置前段通过；五路同步录像共 29.05 s。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62672" y="316382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62672" y="3163824"/>
            <a:ext cx="41148" cy="1280160"/>
          </a:xfrm>
          <a:prstGeom prst="rect">
            <a:avLst/>
          </a:prstGeom>
          <a:solidFill>
            <a:srgbClr val="A56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36408" y="327355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当前边界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36408" y="360273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全流程快照 19.005 s，双手抓持有效；尚未获得三环完整成功。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62672" y="458114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62672" y="4581144"/>
            <a:ext cx="41148" cy="128016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36408" y="469087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下一步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36408" y="502005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继续长程执行；解决加载半步长迟发运动与静置验收。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" y="1581912"/>
            <a:ext cx="7059168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9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局部前段 29.05 s｜包含脚本主动释放；不等于完成三环任务。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" y="5486400"/>
            <a:ext cx="23134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前段验证 · 五路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52344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3"/>
              </a:rPr>
              <a:t>高位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47872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5"/>
              </a:rPr>
              <a:t>低位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43400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7"/>
              </a:rPr>
              <a:t>左腕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38928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9"/>
              </a:rPr>
              <a:t>右腕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34456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0"/>
              </a:rPr>
              <a:t>近景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6062472"/>
            <a:ext cx="3200400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8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1"/>
              </a:rPr>
              <a:t>验证记录 ↗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274320"/>
            <a:ext cx="73152" cy="18288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1060704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01 / 任务进展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640080"/>
            <a:ext cx="11292840" cy="5394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Blanket Flatten｜被子展平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25296"/>
            <a:ext cx="112014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当前选定麻花初态稳定；尚未获得复杂初态的成功展平 demo。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10528"/>
            <a:ext cx="11292840" cy="7315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83680"/>
            <a:ext cx="9784080" cy="1737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TopoGym  /  2026.09.19  /  冻结周报快照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56248"/>
            <a:ext cx="694944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lanket_latest_agentview.jp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912" y="1796795"/>
            <a:ext cx="1950720" cy="1463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6344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3"/>
              </a:rPr>
              <a:t>▶ 全景  ·  t=165.1s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50791" y="1773936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lanket_latest_front_oblique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3648" y="1796795"/>
            <a:ext cx="1950720" cy="1463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69079" y="3314700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5"/>
              </a:rPr>
              <a:t>▶ 斜前  ·  t=165.1s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blanket_latest_wrist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0912" y="3653027"/>
            <a:ext cx="1950720" cy="14630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66344" y="5170931"/>
            <a:ext cx="3419856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7"/>
              </a:rPr>
              <a:t>▶ 腕部  ·  t=165.1s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50791" y="3630168"/>
            <a:ext cx="3456432" cy="15087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42816" y="3767328"/>
            <a:ext cx="2971800" cy="37490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45.4%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42816" y="4215384"/>
            <a:ext cx="297180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v10 最新末态覆盖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4553712"/>
            <a:ext cx="1554480" cy="38404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75.7%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24144" y="4636008"/>
            <a:ext cx="1572768" cy="3108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v8 较好试验末态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62672" y="1773936"/>
            <a:ext cx="4078224" cy="12527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62672" y="1773936"/>
            <a:ext cx="41148" cy="1252728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36408" y="1883664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本周已完成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2212848"/>
            <a:ext cx="3666744" cy="7772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独立静置 10 s 通过，最大漂移 0.143 mm；v10 三路已完整录制。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62672" y="316382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62672" y="3163824"/>
            <a:ext cx="41148" cy="1280160"/>
          </a:xfrm>
          <a:prstGeom prst="rect">
            <a:avLst/>
          </a:prstGeom>
          <a:solidFill>
            <a:srgbClr val="A56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36408" y="327355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当前边界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36408" y="360273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v10 八次保护释放，末态覆盖 45.4%；v8 为 75.7%，仍未达标。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62672" y="4581144"/>
            <a:ext cx="4078224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662672" y="4581144"/>
            <a:ext cx="41148" cy="128016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36408" y="4690872"/>
            <a:ext cx="36850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下一步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36408" y="5020056"/>
            <a:ext cx="3666744" cy="804671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解决解扭、被覆盖布角与拉伸控制；旧简单初态成功单独保留。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" y="1581912"/>
            <a:ext cx="7059168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96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最新 v10 · 179.5 s / 2 fps｜未完成诊断；局部粒子附着辅助，实测状态重渲染。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" y="5486400"/>
            <a:ext cx="23134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v10 最新未完成 · 三路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52344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3"/>
              </a:rPr>
              <a:t>全景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47872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5"/>
              </a:rPr>
              <a:t>斜前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5486400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7"/>
              </a:rPr>
              <a:t>腕部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" y="5779008"/>
            <a:ext cx="23134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v8 补充进展 · 三路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52344" y="5779008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8"/>
              </a:rPr>
              <a:t>全景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47872" y="5779008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9"/>
              </a:rPr>
              <a:t>斜前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43400" y="5779008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0"/>
              </a:rPr>
              <a:t>腕部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" y="6071616"/>
            <a:ext cx="2313432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旧简单初态成功 · 三路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52344" y="6071616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1"/>
              </a:rPr>
              <a:t>全景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47872" y="6071616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2"/>
              </a:rPr>
              <a:t>斜前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43400" y="6071616"/>
            <a:ext cx="73152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1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3"/>
              </a:rPr>
              <a:t>腕部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18120" y="6062472"/>
            <a:ext cx="3200400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8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14"/>
              </a:rPr>
              <a:t>验证记录 ↗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274320"/>
            <a:ext cx="73152" cy="18288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1060704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02 / GPT-6 ASTRA 测试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640080"/>
            <a:ext cx="11292840" cy="5394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6 个任务、7 次运行：尚无成功求解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25296"/>
            <a:ext cx="112014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6 次已结束为 failed；Claws 在快照时仍为 ready。工程 demo 与自主求解分开统计。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10528"/>
            <a:ext cx="11292840" cy="7315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83680"/>
            <a:ext cx="9784080" cy="1737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TopoGym  /  2026.09.19  /  冻结周报快照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56248"/>
            <a:ext cx="694944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" y="1810512"/>
            <a:ext cx="1792224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任务 / 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9152" y="1810512"/>
            <a:ext cx="1792224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段数 / 控制时间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0248" y="1810512"/>
            <a:ext cx="1673352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终止类型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8" y="1810512"/>
            <a:ext cx="516636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主要结果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" y="2258568"/>
            <a:ext cx="11292840" cy="3931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" y="2276856"/>
            <a:ext cx="1792224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Coil 001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9152" y="2276856"/>
            <a:ext cx="1792224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11 / 8.30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0248" y="2276856"/>
            <a:ext cx="1673352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主动停止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9048" y="2276856"/>
            <a:ext cx="5166360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能抓放银件，未建立装配办法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" y="2697480"/>
            <a:ext cx="11292840" cy="393192"/>
          </a:xfrm>
          <a:prstGeom prst="roundRect">
            <a:avLst>
              <a:gd name="adj" fmla="val 9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" y="2715768"/>
            <a:ext cx="1792224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Coil 002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59152" y="2715768"/>
            <a:ext cx="1792224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64 / 74.34 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2715768"/>
            <a:ext cx="1673352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主动停止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9048" y="2715768"/>
            <a:ext cx="5166360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右夹爪持续不响应张开，根因未确认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" y="3136392"/>
            <a:ext cx="11292840" cy="3931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" y="3154680"/>
            <a:ext cx="1792224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Horseshoe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59152" y="3154680"/>
            <a:ext cx="1792224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2 / 1.64 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0248" y="3154680"/>
            <a:ext cx="1673352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预算终止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9048" y="3154680"/>
            <a:ext cx="5166360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抬转左马蹄，尚未取下圆环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" y="3575304"/>
            <a:ext cx="11292840" cy="393192"/>
          </a:xfrm>
          <a:prstGeom prst="roundRect">
            <a:avLst>
              <a:gd name="adj" fmla="val 9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" y="3593592"/>
            <a:ext cx="1792224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Keyhole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59152" y="3593592"/>
            <a:ext cx="1792224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19 / 9.01 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0248" y="3593592"/>
            <a:ext cx="1673352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主动停止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9048" y="3593592"/>
            <a:ext cx="5166360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内部槽齿附近受阻，未找到完整分离路径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912" y="4014216"/>
            <a:ext cx="11292840" cy="3931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6344" y="4032504"/>
            <a:ext cx="1792224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Hedgehog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59152" y="4032504"/>
            <a:ext cx="1792224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7 / 10.05 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70248" y="4032504"/>
            <a:ext cx="1673352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主动停止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99048" y="4032504"/>
            <a:ext cx="5166360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部分移出，仍受笼柱阻挡，未取出/释放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8912" y="4453128"/>
            <a:ext cx="11292840" cy="393192"/>
          </a:xfrm>
          <a:prstGeom prst="roundRect">
            <a:avLst>
              <a:gd name="adj" fmla="val 9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6344" y="4471416"/>
            <a:ext cx="1792224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Lock Picking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59152" y="4471416"/>
            <a:ext cx="1792224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10 / 16.29 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70248" y="4471416"/>
            <a:ext cx="1673352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自动 failed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9048" y="4471416"/>
            <a:ext cx="5166360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推进第一锁片时，机构接触力 &gt;10 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8912" y="4892040"/>
            <a:ext cx="11292840" cy="3931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6344" y="4910328"/>
            <a:ext cx="1792224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Claws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59152" y="4910328"/>
            <a:ext cx="1792224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14 / 9.86 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70248" y="4910328"/>
            <a:ext cx="1673352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进行中 / ready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99048" y="4910328"/>
            <a:ext cx="5166360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仍然互锁；不预判最终成败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660136"/>
            <a:ext cx="11265408" cy="548640"/>
          </a:xfrm>
          <a:prstGeom prst="roundRect">
            <a:avLst>
              <a:gd name="adj" fmla="val 9000"/>
            </a:avLst>
          </a:prstGeom>
          <a:solidFill>
            <a:srgbClr val="FF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" y="5815584"/>
            <a:ext cx="10936224" cy="32918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这些是探索性结果：全部已记录超 2M，且受测 adapter 均为 physics_qualified=false。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274320"/>
            <a:ext cx="73152" cy="18288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1060704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02 / GPT-6 ASTRA 测试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640080"/>
            <a:ext cx="11292840" cy="5394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2M 是目标预算，本批没有实时硬限制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25296"/>
            <a:ext cx="112014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原生用量：input + output；缓存输入与推理输出已包含，均不重复相加。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10528"/>
            <a:ext cx="11292840" cy="7315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83680"/>
            <a:ext cx="9784080" cy="1737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TopoGym  /  2026.09.19  /  冻结周报快照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56248"/>
            <a:ext cx="694944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72284" y="1810512"/>
            <a:ext cx="137160" cy="2286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40864" y="2084831"/>
            <a:ext cx="8229" cy="3163824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36353" y="1810512"/>
            <a:ext cx="137160" cy="2286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AD4D48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04933" y="2084831"/>
            <a:ext cx="8229" cy="3163824"/>
          </a:xfrm>
          <a:prstGeom prst="rect">
            <a:avLst/>
          </a:prstGeom>
          <a:solidFill>
            <a:srgbClr val="AD4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16966" y="1810512"/>
            <a:ext cx="329184" cy="2286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81558" y="2084831"/>
            <a:ext cx="8229" cy="3163824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57661" y="1810512"/>
            <a:ext cx="329184" cy="2286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22253" y="2084831"/>
            <a:ext cx="8229" cy="3163824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98356" y="1810512"/>
            <a:ext cx="329184" cy="2286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60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2948" y="2084831"/>
            <a:ext cx="8229" cy="3163824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18704" y="1810512"/>
            <a:ext cx="329184" cy="2286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70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83296" y="2084831"/>
            <a:ext cx="8229" cy="3163824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2267712"/>
            <a:ext cx="1783080" cy="26517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8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Coil 001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40864" y="2290572"/>
            <a:ext cx="362652" cy="214884"/>
          </a:xfrm>
          <a:prstGeom prst="roundRect">
            <a:avLst>
              <a:gd name="adj" fmla="val 9000"/>
            </a:avLst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2263140"/>
            <a:ext cx="182880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1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4,420,724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87584" y="2263140"/>
            <a:ext cx="1307592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AD4D48"/>
                </a:solidFill>
                <a:latin typeface="Noto Sans CJK SC"/>
                <a:ea typeface="Noto Sans CJK SC"/>
                <a:cs typeface="Noto Sans CJK SC"/>
              </a:rPr>
              <a:t>2.21×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2688336"/>
            <a:ext cx="1783080" cy="26517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8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Coil 002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40864" y="2711196"/>
            <a:ext cx="5697517" cy="214884"/>
          </a:xfrm>
          <a:prstGeom prst="roundRect">
            <a:avLst>
              <a:gd name="adj" fmla="val 9000"/>
            </a:avLst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2683764"/>
            <a:ext cx="182880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1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69,452,496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87584" y="2683764"/>
            <a:ext cx="1307592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AD4D48"/>
                </a:solidFill>
                <a:latin typeface="Noto Sans CJK SC"/>
                <a:ea typeface="Noto Sans CJK SC"/>
                <a:cs typeface="Noto Sans CJK SC"/>
              </a:rPr>
              <a:t>34.73×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3108960"/>
            <a:ext cx="1783080" cy="26517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8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Horseshoe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340864" y="3131820"/>
            <a:ext cx="231274" cy="214884"/>
          </a:xfrm>
          <a:prstGeom prst="roundRect">
            <a:avLst>
              <a:gd name="adj" fmla="val 9000"/>
            </a:avLst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3104388"/>
            <a:ext cx="182880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1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2,819,223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87584" y="3104388"/>
            <a:ext cx="1307592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AD4D48"/>
                </a:solidFill>
                <a:latin typeface="Noto Sans CJK SC"/>
                <a:ea typeface="Noto Sans CJK SC"/>
                <a:cs typeface="Noto Sans CJK SC"/>
              </a:rPr>
              <a:t>1.41×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" y="3529584"/>
            <a:ext cx="1783080" cy="26517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8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Keyhole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340864" y="3552444"/>
            <a:ext cx="1024433" cy="214884"/>
          </a:xfrm>
          <a:prstGeom prst="roundRect">
            <a:avLst>
              <a:gd name="adj" fmla="val 9000"/>
            </a:avLst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6760" y="3525012"/>
            <a:ext cx="182880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1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12,487,795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87584" y="3525012"/>
            <a:ext cx="1307592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AD4D48"/>
                </a:solidFill>
                <a:latin typeface="Noto Sans CJK SC"/>
                <a:ea typeface="Noto Sans CJK SC"/>
                <a:cs typeface="Noto Sans CJK SC"/>
              </a:rPr>
              <a:t>6.24×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" y="3950208"/>
            <a:ext cx="1783080" cy="26517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8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Hedgehog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340864" y="3973068"/>
            <a:ext cx="173049" cy="214884"/>
          </a:xfrm>
          <a:prstGeom prst="roundRect">
            <a:avLst>
              <a:gd name="adj" fmla="val 9000"/>
            </a:avLst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66760" y="3945636"/>
            <a:ext cx="182880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1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2,109,472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87584" y="3945636"/>
            <a:ext cx="1307592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AD4D48"/>
                </a:solidFill>
                <a:latin typeface="Noto Sans CJK SC"/>
                <a:ea typeface="Noto Sans CJK SC"/>
                <a:cs typeface="Noto Sans CJK SC"/>
              </a:rPr>
              <a:t>1.05×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" y="4370832"/>
            <a:ext cx="1783080" cy="26517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8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Lock Picking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340864" y="4393692"/>
            <a:ext cx="313485" cy="214884"/>
          </a:xfrm>
          <a:prstGeom prst="roundRect">
            <a:avLst>
              <a:gd name="adj" fmla="val 9000"/>
            </a:avLst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66760" y="4366260"/>
            <a:ext cx="182880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1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3,821,375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87584" y="4366260"/>
            <a:ext cx="1307592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AD4D48"/>
                </a:solidFill>
                <a:latin typeface="Noto Sans CJK SC"/>
                <a:ea typeface="Noto Sans CJK SC"/>
                <a:cs typeface="Noto Sans CJK SC"/>
              </a:rPr>
              <a:t>1.91×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8" y="4791456"/>
            <a:ext cx="1783080" cy="26517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8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Claws（进行中）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340864" y="4814316"/>
            <a:ext cx="1917709" cy="214884"/>
          </a:xfrm>
          <a:prstGeom prst="roundRect">
            <a:avLst>
              <a:gd name="adj" fmla="val 9000"/>
            </a:avLst>
          </a:prstGeom>
          <a:solidFill>
            <a:srgbClr val="A56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66760" y="4786884"/>
            <a:ext cx="182880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1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≥23,376,797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87584" y="4786884"/>
            <a:ext cx="1307592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AD4D48"/>
                </a:solidFill>
                <a:latin typeface="Noto Sans CJK SC"/>
                <a:ea typeface="Noto Sans CJK SC"/>
                <a:cs typeface="Noto Sans CJK SC"/>
              </a:rPr>
              <a:t>≥11.69×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50008" y="5404104"/>
            <a:ext cx="8046720" cy="26517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8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横轴单位：百万 tokens（M）；红线 = 2M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5824728"/>
            <a:ext cx="11256264" cy="393192"/>
          </a:xfrm>
          <a:prstGeom prst="roundRect">
            <a:avLst>
              <a:gd name="adj" fmla="val 9000"/>
            </a:avLst>
          </a:prstGeom>
          <a:solidFill>
            <a:srgbClr val="F7E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0936" y="5907024"/>
            <a:ext cx="1088136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AD4D48"/>
                </a:solidFill>
                <a:latin typeface="Noto Sans CJK SC"/>
                <a:ea typeface="Noto Sans CJK SC"/>
                <a:cs typeface="Noto Sans CJK SC"/>
              </a:rPr>
              <a:t>7/7 已启动运行均有超预算记录 → 不报告为“严格 2M 下的成功率 / 失败率”。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274320"/>
            <a:ext cx="73152" cy="18288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1060704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02 / GPT-6 ASTRA 测试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640080"/>
            <a:ext cx="11292840" cy="5394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其余 5 项：自主求解未开始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25296"/>
            <a:ext cx="112014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已有环境、工程控制器或 adapter 短测，不等于已完成 GPT-6 求解试验。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10528"/>
            <a:ext cx="11292840" cy="7315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83680"/>
            <a:ext cx="9784080" cy="1737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TopoGym  /  2026.09.19  /  冻结周报快照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56248"/>
            <a:ext cx="694944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73936"/>
            <a:ext cx="11256264" cy="649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911095"/>
            <a:ext cx="2459736" cy="3108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Fiber Bundling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91256" y="1929384"/>
            <a:ext cx="960120" cy="329184"/>
          </a:xfrm>
          <a:prstGeom prst="roundRect">
            <a:avLst>
              <a:gd name="adj" fmla="val 9000"/>
            </a:avLst>
          </a:prstGeom>
          <a:solidFill>
            <a:srgbClr val="E7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36976" y="1965960"/>
            <a:ext cx="868680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未开始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9704" y="1929384"/>
            <a:ext cx="6922008" cy="37490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7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已有工程穿环 demo；没有独立 solver 运行记录。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560320"/>
            <a:ext cx="11256264" cy="649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2697479"/>
            <a:ext cx="2459736" cy="3108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Knot Untying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91256" y="2715768"/>
            <a:ext cx="960120" cy="329184"/>
          </a:xfrm>
          <a:prstGeom prst="roundRect">
            <a:avLst>
              <a:gd name="adj" fmla="val 9000"/>
            </a:avLst>
          </a:prstGeom>
          <a:solidFill>
            <a:srgbClr val="E7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36976" y="2752344"/>
            <a:ext cx="868680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未开始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9704" y="2715768"/>
            <a:ext cx="6922008" cy="37490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7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adapter 已接入；CUDA / IPC 等启动问题仍待解决。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346704"/>
            <a:ext cx="11256264" cy="649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3483864"/>
            <a:ext cx="2459736" cy="3108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Buzz Wire 3D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91256" y="3502152"/>
            <a:ext cx="960120" cy="329184"/>
          </a:xfrm>
          <a:prstGeom prst="roundRect">
            <a:avLst>
              <a:gd name="adj" fmla="val 9000"/>
            </a:avLst>
          </a:prstGeom>
          <a:solidFill>
            <a:srgbClr val="E7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36976" y="3538728"/>
            <a:ext cx="868680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未开始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3502152"/>
            <a:ext cx="6922008" cy="37490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7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adapter 有 101 步短测，尚无自主求解 episode。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133087"/>
            <a:ext cx="11256264" cy="649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" y="4270248"/>
            <a:ext cx="2459736" cy="3108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Rope Threading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91256" y="4288536"/>
            <a:ext cx="960120" cy="329184"/>
          </a:xfrm>
          <a:prstGeom prst="roundRect">
            <a:avLst>
              <a:gd name="adj" fmla="val 9000"/>
            </a:avLst>
          </a:prstGeom>
          <a:solidFill>
            <a:srgbClr val="E7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4325112"/>
            <a:ext cx="868680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未开始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9704" y="4288536"/>
            <a:ext cx="6922008" cy="37490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7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长运行属于工程参考执行，尚未测试 solver。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919472"/>
            <a:ext cx="11256264" cy="649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5056632"/>
            <a:ext cx="2459736" cy="3108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Blanket Flatten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91256" y="5074920"/>
            <a:ext cx="960120" cy="329184"/>
          </a:xfrm>
          <a:prstGeom prst="roundRect">
            <a:avLst>
              <a:gd name="adj" fmla="val 9000"/>
            </a:avLst>
          </a:prstGeom>
          <a:solidFill>
            <a:srgbClr val="E7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36976" y="5111496"/>
            <a:ext cx="868680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未开始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9704" y="5074920"/>
            <a:ext cx="6922008" cy="37490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7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v1–v10 属于工程控制器试验，尚未测试 solver。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007608"/>
            <a:ext cx="10972800" cy="3200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正式实验前：同协议参考解通过 → 干净会话 → 外部硬计量 → 冻结条件与重复试验。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274320"/>
            <a:ext cx="73152" cy="18288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1060704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03 / REVIEWER 讨论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640080"/>
            <a:ext cx="11292840" cy="5394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问题一：每个收录变体需要怎样的可解性证据？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25296"/>
            <a:ext cx="112014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待判断：可复现的成功执行见证是否足够？是否需要更强证明或稳定性重复实验？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10528"/>
            <a:ext cx="11292840" cy="7315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83680"/>
            <a:ext cx="9784080" cy="1737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TopoGym  /  2026.09.19  /  冻结周报快照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56248"/>
            <a:ext cx="694944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947672"/>
            <a:ext cx="3657600" cy="22494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185416"/>
            <a:ext cx="3255264" cy="37490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几何层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825496"/>
            <a:ext cx="3236976" cy="61264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存在满足几何约束的路径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657600"/>
            <a:ext cx="3236976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不自动保证机器人能跟随。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9392" y="1947672"/>
            <a:ext cx="3657600" cy="22494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59" y="2185416"/>
            <a:ext cx="3255264" cy="37490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运动学层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2825496"/>
            <a:ext cx="3236976" cy="61264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机器人可达、限位与碰撞满足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3657600"/>
            <a:ext cx="3236976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不自动保证真实动力学执行。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1947672"/>
            <a:ext cx="3657600" cy="22494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2185416"/>
            <a:ext cx="3255264" cy="37490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执行层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825496"/>
            <a:ext cx="3236976" cy="61264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相同评测协议下完整执行通过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3657600"/>
            <a:ext cx="3236976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支持指定配置下的可解见证。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636008"/>
            <a:ext cx="11265408" cy="1170432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" y="4818888"/>
            <a:ext cx="10799064" cy="39319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建议声明范围：最终收录的实例集合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" y="5358384"/>
            <a:ext cx="10799064" cy="38404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每个实例绑定私有参考动作与验收记录；不必让 GPT-6 重新盲解每个候选，也不必证明整个连续参数域。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089904"/>
            <a:ext cx="10972800" cy="28346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一次成功证明指定条件下“存在一条解”；“稳定可解”需要额外的数值或扰动验证。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274320"/>
            <a:ext cx="73152" cy="18288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1060704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03 / REVIEWER 讨论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640080"/>
            <a:ext cx="11292840" cy="5394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当前阶段：先建立验收闭环，再 sweep 收录集合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25296"/>
            <a:ext cx="112014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目标是只收录经过验证的实例，同时保留失败候选、拒绝原因与家族分布。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10528"/>
            <a:ext cx="11292840" cy="7315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83680"/>
            <a:ext cx="9784080" cy="1737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TopoGym  /  2026.09.19  /  冻结周报快照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56248"/>
            <a:ext cx="694944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" y="1856231"/>
            <a:ext cx="2596896" cy="12984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429768" cy="42062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057400"/>
            <a:ext cx="1664208" cy="7315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已知解与场景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联合构造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0672" y="2249424"/>
            <a:ext cx="265176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5848" y="1856231"/>
            <a:ext cx="2596896" cy="12984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9584" y="2011680"/>
            <a:ext cx="429768" cy="42062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96512" y="2057400"/>
            <a:ext cx="1664208" cy="7315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几何与 IK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逐例检查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0176" y="2249424"/>
            <a:ext cx="265176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1856231"/>
            <a:ext cx="2596896" cy="12984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2011680"/>
            <a:ext cx="429768" cy="42062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6016" y="2057400"/>
            <a:ext cx="1664208" cy="7315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同一协议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完整物理执行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249424"/>
            <a:ext cx="265176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34856" y="1856231"/>
            <a:ext cx="2596896" cy="12984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08592" y="2011680"/>
            <a:ext cx="429768" cy="42062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2057400"/>
            <a:ext cx="1664208" cy="7315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验收通过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才收录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" y="3685032"/>
            <a:ext cx="3657600" cy="1920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" y="3913632"/>
            <a:ext cx="3273552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先做首批有限 seed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" y="4517136"/>
            <a:ext cx="3273552" cy="8686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冻结各族成功基准；实现生成、验证、拒绝与有限重采，再扩大规模。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88536" y="3685032"/>
            <a:ext cx="3657600" cy="1920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71416" y="3913632"/>
            <a:ext cx="3273552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声明要与覆盖范围一致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71416" y="4517136"/>
            <a:ext cx="3273552" cy="8686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全体可解声明需要逐例证据。只做抽查，就只报告抽查结论。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10727" y="3685032"/>
            <a:ext cx="3657600" cy="1920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93607" y="3913632"/>
            <a:ext cx="3273552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保留评测的独立性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93607" y="4517136"/>
            <a:ext cx="3273552" cy="8686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生成端私有参考解；solver 仅使用允许观测。按家族/父模板划分数据。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" y="6044184"/>
            <a:ext cx="10972800" cy="38404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6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请 reviewer 确认：逐实例成功见证 + 明示稳定性验证，是否足以支持 paper 的可解性声明？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274320"/>
            <a:ext cx="73152" cy="18288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1060704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03 / REVIEWER 讨论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640080"/>
            <a:ext cx="11292840" cy="5394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问题二：直接 GPT-6 session 的测试方法合理吗？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25296"/>
            <a:ext cx="112014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当前方法评估使用图像、代码与数值工具的长程机器人交互求解。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10528"/>
            <a:ext cx="11292840" cy="7315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83680"/>
            <a:ext cx="9784080" cy="1737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TopoGym  /  2026.09.19  /  冻结周报快照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56248"/>
            <a:ext cx="694944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73936"/>
            <a:ext cx="3200400" cy="32644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1984248"/>
            <a:ext cx="2743200" cy="39319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公开输入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2697480"/>
            <a:ext cx="2706624" cy="179222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任务目标与规则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多视角 RGB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机器人本体状态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动作接口与相机标定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1773936"/>
            <a:ext cx="4123944" cy="3264408"/>
          </a:xfrm>
          <a:prstGeom prst="roundRect">
            <a:avLst>
              <a:gd name="adj" fmla="val 9000"/>
            </a:avLst>
          </a:prstGeom>
          <a:solidFill>
            <a:srgbClr val="E0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87368" y="1984248"/>
            <a:ext cx="3584448" cy="39319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自动执行闭环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87368" y="2633472"/>
            <a:ext cx="3621024" cy="209397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Observe / 看图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↓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规划 / 写动作脚本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↓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Submit / 物理执行 / 再观察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6448" y="1773936"/>
            <a:ext cx="3566160" cy="32644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1984248"/>
            <a:ext cx="3099816" cy="39319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规则与结果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2697480"/>
            <a:ext cx="3054096" cy="179222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单一连续 episode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不重置、不回滚、不改环境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不读已有解法 / 私有状态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Evaluator 判定成功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349240"/>
            <a:ext cx="10972800" cy="4023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本地文件队列或 HTTP bridge；manual 仅指计量模式，动作不需要人逐段批准。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888736"/>
            <a:ext cx="11265408" cy="384048"/>
          </a:xfrm>
          <a:prstGeom prst="roundRect">
            <a:avLst>
              <a:gd name="adj" fmla="val 9000"/>
            </a:avLst>
          </a:prstGeom>
          <a:solidFill>
            <a:srgbClr val="FF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961888"/>
            <a:ext cx="10908792" cy="28346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60" b="1">
                <a:solidFill>
                  <a:srgbClr val="A56C18"/>
                </a:solidFill>
                <a:latin typeface="Noto Sans CJK SC"/>
                <a:ea typeface="Noto Sans CJK SC"/>
                <a:cs typeface="Noto Sans CJK SC"/>
              </a:rPr>
              <a:t>当前 2M 没有外部实时硬限制；工具与资料边界主要依赖提示词约定。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274320"/>
            <a:ext cx="73152" cy="182880"/>
          </a:xfrm>
          <a:prstGeom prst="rect">
            <a:avLst/>
          </a:prstGeom>
          <a:solidFill>
            <a:srgbClr val="13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1060704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03 / REVIEWER 讨论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640080"/>
            <a:ext cx="11292840" cy="5394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正式 benchmark 前，需要 reviewer 评估的四项条件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225296"/>
            <a:ext cx="1120140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现有这批适合作为探索性 pilot；更强的论文结论需要补齐以下条件。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10528"/>
            <a:ext cx="11292840" cy="7315"/>
          </a:xfrm>
          <a:prstGeom prst="rect">
            <a:avLst/>
          </a:prstGeom>
          <a:solidFill>
            <a:srgbClr val="DB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583680"/>
            <a:ext cx="9784080" cy="1737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TopoGym  /  2026.09.19  /  冻结周报快照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56248"/>
            <a:ext cx="694944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10512"/>
            <a:ext cx="5532120" cy="1911095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56816"/>
            <a:ext cx="512064" cy="39319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9304" y="1993392"/>
            <a:ext cx="448056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信息与会话独立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551176"/>
            <a:ext cx="5102352" cy="5943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新会话 + 干净任务包 / 容器；固定允许的机器人信息、标定和工具。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246120"/>
            <a:ext cx="5102352" cy="35661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现状：部分任务沿用有旧上下文的同一聊天。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810512"/>
            <a:ext cx="5532120" cy="1911095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6" y="1956816"/>
            <a:ext cx="512064" cy="39319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1993392"/>
            <a:ext cx="448056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真实 2M 硬预算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2551176"/>
            <a:ext cx="5102352" cy="5943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外部采集原生 usage，调用前预留额度，动作前核验；明确报告计量范围。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3246120"/>
            <a:ext cx="5102352" cy="35661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现状：7 次运行均已记录超预算，只有事后或临时核对。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959352"/>
            <a:ext cx="5532120" cy="1911095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105656"/>
            <a:ext cx="512064" cy="39319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9304" y="4142232"/>
            <a:ext cx="448056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同协议可解见证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700016"/>
            <a:ext cx="5102352" cy="5943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参考控制器通过同一初态、辅助抓持、动作接口、终态与失败规则。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394960"/>
            <a:ext cx="5102352" cy="35661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现状：工程 demo 与 solver 初态及抓持条件存在差异。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8776" y="3959352"/>
            <a:ext cx="5532120" cy="1911095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91656" y="4105656"/>
            <a:ext cx="512064" cy="39319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142232"/>
            <a:ext cx="4480560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冻结条件与重复试验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9944" y="4700016"/>
            <a:ext cx="5102352" cy="5943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14283F"/>
                </a:solidFill>
                <a:latin typeface="Noto Sans CJK SC"/>
                <a:ea typeface="Noto Sans CJK SC"/>
                <a:cs typeface="Noto Sans CJK SC"/>
              </a:rPr>
              <a:t>固定模型、工具、观测、网络、实例和 evaluator；分层报告失败类型。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9944" y="5394960"/>
            <a:ext cx="5102352" cy="35661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65748A"/>
                </a:solidFill>
                <a:latin typeface="Noto Sans CJK SC"/>
                <a:ea typeface="Noto Sans CJK SC"/>
                <a:cs typeface="Noto Sans CJK SC"/>
              </a:rPr>
              <a:t>现状：少量试验，版本、抓持条件和物理后端不完全一致。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" y="6291072"/>
            <a:ext cx="8503920" cy="2194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 u="sng">
                <a:solidFill>
                  <a:srgbClr val="137D69"/>
                </a:solidFill>
                <a:latin typeface="Noto Sans CJK SC"/>
                <a:ea typeface="Noto Sans CJK SC"/>
                <a:cs typeface="Noto Sans CJK SC"/>
                <a:hlinkClick r:id="rId2"/>
              </a:rPr>
              <a:t>完整周报与 73 个多视角 MP4 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TopoGym 周报 | 2026-09-19</dc:title>
  <dc:subject>任务进展、GPT-6 Astra 2M 目标预算测试、reviewer 讨论</dc:subject>
  <dc:creator>TopoGym</dc:creator>
  <cp:keywords>TopoGym, robotics, weekly report, GPT-6 Astra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